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embeddedFontLst>
    <p:embeddedFont>
      <p:font typeface="Nunito Sans" pitchFamily="34" charset="0"/>
      <p:regular r:id="rId10"/>
      <p:bold r:id="rId11"/>
      <p:italic r:id="rId12"/>
      <p:boldItalic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agente joga truco mineiro 2 contra 2, mas controla só um jogador: o parceiro e os dois adversários são bots com regras fixas. Os bots também decidem tudo, inclusive trucar, aceitar e correr, mas como as regras deles não mudam, do ponto de vista do agente essas decisões fazem parte do ambiente e o problema continua sendo de um agente único. O estado reúne o que o agente observa quando chega a vez dele: as cartas na mão, as cartas já jogadas por cada jogador, quem venceu cada rodada, qual é a maior carta na mesa e se ela é do parceiro ou de um adversário, a posição dele na ordem de jogada, o valor da mão e o placar. Jogamos com o baralho vazio: as quatro manilhas fixas mais 3, 2, A, K, J e Q, 27 cartas no total. Na mão de 11, quando a dupla do agente tem 11 tentos, ele também vê as cartas do parceiro antes de decidir se joga. No exemplo da mesa, o parceiro está vencendo com o 7 de ouros, que é manilha. As cartas dos outros três ficam ocultas, então o jogo é parcialmente observável; por isso o histórico da mão entra no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ação fosse “jogar a carta X”, o agente teria que aprender separadamente para cada carta possível. Com estratégias, temos 9 ações fixas que valem para qualquer mão: quatro quando já há cartas na mesa, duas quando o agente abre a rodada e três de aposta. “Trucar” pede truco, que vale 3, ou aumenta para 6, 9 e 12. Na mão de 11 não há truco: a dupla que tem 11 só decide entre jogar a mão, com Aceitar, ou Correr. No 11 a 11 joga-se a mão de ferro, às cegas; como ninguém vê as cartas, o agente não tem decisão a tomar e o ambiente resolve a mão sozinho. “Vencer a mesa” é vencer a maior carta jogada até agora. No 2 contra 2 as mesmas ações ganham sentido novo: se o parceiro já está vencendo, “Deixar fazer” é deixar o parceiro levar a rodada e poupar as cartas boas, e “Matar” serve para garantir a rodada contra o adversário que ainda vai jogar. Ações que não fazem sentido no momento, como matar quando nenhuma carta vence ou jogar coberta quando a regra não permite, ficam bloqueadas por uma máscara de 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recompensa vem em tentos, no fim de cada mão, e é a mesma para a dupla: o agente ganha o valor da mão se a dupla vencer e perde o mesmo valor se perder. A mão vale 1 tento; com truco vale 3 e pode subir para 6, 9 e 12. Correr também tem custo, porque os adversários levam o valor anterior ao pedido: correr do truco custa 1, do 6 custa 3, do 9 custa 6 e do 12 custa 9. Na mão de 11, jogar vale 3 tentos e correr entrega 1 aos adversários. A partida vai a 12 tentos, e no 11 a 11 a mão de ferro, jogada às cegas, decide o jogo. Como a recompensa é da dupla, o agente às vezes ganha por mérito do parceiro; isso torna o aprendizado mais lento, mas é exatamente o que ensina a jogar em equipe, por exemplo a poupar cartas quando o parceiro já está vencendo. O bônus pelo fim da partida é opcional e serve para alinhar o ganho de cada mão com o objetivo final, que é vencer o jogo.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EFE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E4A38"/>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0"/>
            <a:ext cx="10566400" cy="4191000"/>
          </a:xfrm>
          <a:prstGeom prst="rect">
            <a:avLst/>
          </a:prstGeom>
          <a:noFill/>
          <a:ln/>
        </p:spPr>
        <p:txBody>
          <a:bodyPr wrap="square" lIns="0" tIns="0" rIns="0" bIns="0" rtlCol="0" anchor="t"/>
          <a:lstStyle>
            <a:lvl1pPr algn="l" indent="0" marL="0">
              <a:lnSpc>
                <a:spcPct val="140000"/>
              </a:lnSpc>
              <a:buNone/>
              <a:defRPr lang="en-US" sz="1600" dirty="0">
                <a:solidFill>
                  <a:srgbClr val="4E5A52"/>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5EFE2"/>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0"/>
            <a:ext cx="10566400" cy="4191000"/>
          </a:xfrm>
          <a:prstGeom prst="rect">
            <a:avLst/>
          </a:prstGeom>
          <a:noFill/>
          <a:ln/>
        </p:spPr>
        <p:txBody>
          <a:bodyPr wrap="square" lIns="0" tIns="0" rIns="0" bIns="0" rtlCol="0" anchor="t"/>
          <a:lstStyle>
            <a:lvl1pPr algn="l" indent="0" marL="0">
              <a:lnSpc>
                <a:spcPct val="140000"/>
              </a:lnSpc>
              <a:buNone/>
              <a:defRPr lang="en-US" sz="1600" dirty="0">
                <a:solidFill>
                  <a:srgbClr val="F5EFE2"/>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E4A38"/>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0"/>
            <a:ext cx="10566400" cy="4191000"/>
          </a:xfrm>
          <a:prstGeom prst="rect">
            <a:avLst/>
          </a:prstGeom>
          <a:noFill/>
          <a:ln/>
        </p:spPr>
        <p:txBody>
          <a:bodyPr wrap="square" lIns="0" tIns="0" rIns="0" bIns="0" rtlCol="0" anchor="t"/>
          <a:lstStyle>
            <a:lvl1pPr algn="l" indent="0" marL="0">
              <a:lnSpc>
                <a:spcPct val="140000"/>
              </a:lnSpc>
              <a:buNone/>
              <a:defRPr lang="en-US" sz="1600" dirty="0">
                <a:solidFill>
                  <a:srgbClr val="4E5A52"/>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362C"/>
                </a:solidFill>
                <a:latin typeface="Nunito Sans" pitchFamily="34" charset="0"/>
                <a:ea typeface="Nunito Sans" pitchFamily="34" charset="-122"/>
                <a:cs typeface="Nunito Sans" pitchFamily="34" charset="-120"/>
              </a:rPr>
              <a:t>TRUCO MINEIRO · 2 CONTRA 2 · APRENDIZADO POR REFORÇO</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4A38"/>
                </a:solidFill>
                <a:latin typeface="Domine" pitchFamily="18" charset="0"/>
                <a:ea typeface="Domine" pitchFamily="18" charset="-122"/>
                <a:cs typeface="Domine" pitchFamily="18" charset="-120"/>
              </a:rPr>
              <a:t>O agente e o ambiente</a:t>
            </a:r>
            <a:endParaRPr lang="en-US" sz="3200" dirty="0"/>
          </a:p>
        </p:txBody>
      </p:sp>
      <p:sp>
        <p:nvSpPr>
          <p:cNvPr id="4" name="Text 2"/>
          <p:cNvSpPr/>
          <p:nvPr/>
        </p:nvSpPr>
        <p:spPr>
          <a:xfrm>
            <a:off x="812800" y="1803400"/>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E5A52"/>
                </a:solidFill>
                <a:latin typeface="Nunito Sans" pitchFamily="34" charset="0"/>
                <a:ea typeface="Nunito Sans" pitchFamily="34" charset="-122"/>
                <a:cs typeface="Nunito Sans" pitchFamily="34" charset="-120"/>
              </a:rPr>
              <a:t>AMBIENTE</a:t>
            </a:r>
            <a:endParaRPr lang="en-US" sz="1200" dirty="0"/>
          </a:p>
        </p:txBody>
      </p:sp>
      <p:sp>
        <p:nvSpPr>
          <p:cNvPr id="5" name="Text 3"/>
          <p:cNvSpPr/>
          <p:nvPr/>
        </p:nvSpPr>
        <p:spPr>
          <a:xfrm>
            <a:off x="812800" y="2067560"/>
            <a:ext cx="51015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A2620"/>
                </a:solidFill>
                <a:latin typeface="Nunito Sans" pitchFamily="34" charset="0"/>
                <a:ea typeface="Nunito Sans" pitchFamily="34" charset="-122"/>
                <a:cs typeface="Nunito Sans" pitchFamily="34" charset="-120"/>
              </a:rPr>
              <a:t>Truco mineiro 2 contra 2. O agente controla um jogador; os outros três são bots que jogam e trucam com regras fixas.</a:t>
            </a:r>
            <a:endParaRPr lang="en-US" sz="1500" dirty="0"/>
          </a:p>
        </p:txBody>
      </p:sp>
      <p:sp>
        <p:nvSpPr>
          <p:cNvPr id="6" name="Text 4"/>
          <p:cNvSpPr/>
          <p:nvPr/>
        </p:nvSpPr>
        <p:spPr>
          <a:xfrm>
            <a:off x="812800" y="3020060"/>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E5A52"/>
                </a:solidFill>
                <a:latin typeface="Nunito Sans" pitchFamily="34" charset="0"/>
                <a:ea typeface="Nunito Sans" pitchFamily="34" charset="-122"/>
                <a:cs typeface="Nunito Sans" pitchFamily="34" charset="-120"/>
              </a:rPr>
              <a:t>ESTADO: O QUE O AGENTE OBSERVA</a:t>
            </a:r>
            <a:endParaRPr lang="en-US" sz="1200" dirty="0"/>
          </a:p>
        </p:txBody>
      </p:sp>
      <p:sp>
        <p:nvSpPr>
          <p:cNvPr id="7" name="Text 5"/>
          <p:cNvSpPr/>
          <p:nvPr/>
        </p:nvSpPr>
        <p:spPr>
          <a:xfrm>
            <a:off x="812800" y="328422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E4A38"/>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Cartas na mão, pela força</a:t>
            </a:r>
            <a:endParaRPr lang="en-US" sz="1400" dirty="0"/>
          </a:p>
        </p:txBody>
      </p:sp>
      <p:sp>
        <p:nvSpPr>
          <p:cNvPr id="8" name="Text 6"/>
          <p:cNvSpPr/>
          <p:nvPr/>
        </p:nvSpPr>
        <p:spPr>
          <a:xfrm>
            <a:off x="812800" y="355727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B3362C"/>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Cartas já jogadas, por jogador</a:t>
            </a:r>
            <a:endParaRPr lang="en-US" sz="1400" dirty="0"/>
          </a:p>
        </p:txBody>
      </p:sp>
      <p:sp>
        <p:nvSpPr>
          <p:cNvPr id="9" name="Text 7"/>
          <p:cNvSpPr/>
          <p:nvPr/>
        </p:nvSpPr>
        <p:spPr>
          <a:xfrm>
            <a:off x="812800" y="383032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E4A38"/>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Quem venceu cada rodada</a:t>
            </a:r>
            <a:endParaRPr lang="en-US" sz="1400" dirty="0"/>
          </a:p>
        </p:txBody>
      </p:sp>
      <p:sp>
        <p:nvSpPr>
          <p:cNvPr id="10" name="Text 8"/>
          <p:cNvSpPr/>
          <p:nvPr/>
        </p:nvSpPr>
        <p:spPr>
          <a:xfrm>
            <a:off x="812800" y="410337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B3362C"/>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Maior carta na mesa e de quem é</a:t>
            </a:r>
            <a:endParaRPr lang="en-US" sz="1400" dirty="0"/>
          </a:p>
        </p:txBody>
      </p:sp>
      <p:sp>
        <p:nvSpPr>
          <p:cNvPr id="11" name="Text 9"/>
          <p:cNvSpPr/>
          <p:nvPr/>
        </p:nvSpPr>
        <p:spPr>
          <a:xfrm>
            <a:off x="812800" y="437642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E4A38"/>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Posição na ordem de jogada</a:t>
            </a:r>
            <a:endParaRPr lang="en-US" sz="1400" dirty="0"/>
          </a:p>
        </p:txBody>
      </p:sp>
      <p:sp>
        <p:nvSpPr>
          <p:cNvPr id="12" name="Text 10"/>
          <p:cNvSpPr/>
          <p:nvPr/>
        </p:nvSpPr>
        <p:spPr>
          <a:xfrm>
            <a:off x="812800" y="464947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B3362C"/>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Valor da mão e truco pendente</a:t>
            </a:r>
            <a:endParaRPr lang="en-US" sz="1400" dirty="0"/>
          </a:p>
        </p:txBody>
      </p:sp>
      <p:sp>
        <p:nvSpPr>
          <p:cNvPr id="13" name="Text 11"/>
          <p:cNvSpPr/>
          <p:nvPr/>
        </p:nvSpPr>
        <p:spPr>
          <a:xfrm>
            <a:off x="812800" y="4922520"/>
            <a:ext cx="510159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E4A38"/>
                </a:solidFill>
                <a:latin typeface="Nunito Sans" pitchFamily="34" charset="0"/>
                <a:ea typeface="Nunito Sans" pitchFamily="34" charset="-122"/>
                <a:cs typeface="Nunito Sans" pitchFamily="34" charset="-120"/>
              </a:rPr>
              <a:t>♠</a:t>
            </a:r>
            <a:r>
              <a:rPr lang="en-US" sz="1400" dirty="0">
                <a:solidFill>
                  <a:srgbClr val="1A2620"/>
                </a:solidFill>
                <a:latin typeface="Nunito Sans" pitchFamily="34" charset="0"/>
                <a:ea typeface="Nunito Sans" pitchFamily="34" charset="-122"/>
                <a:cs typeface="Nunito Sans" pitchFamily="34" charset="-120"/>
              </a:rPr>
              <a:t>  Placar das duplas e mão de 11</a:t>
            </a:r>
            <a:endParaRPr lang="en-US" sz="1400" dirty="0"/>
          </a:p>
        </p:txBody>
      </p:sp>
      <p:sp>
        <p:nvSpPr>
          <p:cNvPr id="14" name="Shape 12"/>
          <p:cNvSpPr/>
          <p:nvPr/>
        </p:nvSpPr>
        <p:spPr>
          <a:xfrm>
            <a:off x="825500" y="5297170"/>
            <a:ext cx="0" cy="477520"/>
          </a:xfrm>
          <a:prstGeom prst="line">
            <a:avLst/>
          </a:prstGeom>
          <a:noFill/>
          <a:ln w="25400">
            <a:solidFill>
              <a:srgbClr val="C99A2E"/>
            </a:solidFill>
            <a:prstDash val="solid"/>
          </a:ln>
        </p:spPr>
      </p:sp>
      <p:sp>
        <p:nvSpPr>
          <p:cNvPr id="15" name="Text 13"/>
          <p:cNvSpPr/>
          <p:nvPr/>
        </p:nvSpPr>
        <p:spPr>
          <a:xfrm>
            <a:off x="965200" y="5322570"/>
            <a:ext cx="49446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As decisões dos bots fazem parte do ambiente. As cartas deles ficam ocultas, exceto as do parceiro na mão de 11.</a:t>
            </a:r>
            <a:endParaRPr lang="en-US" sz="1200" dirty="0"/>
          </a:p>
        </p:txBody>
      </p:sp>
      <p:sp>
        <p:nvSpPr>
          <p:cNvPr id="16" name="Shape 14"/>
          <p:cNvSpPr/>
          <p:nvPr/>
        </p:nvSpPr>
        <p:spPr>
          <a:xfrm>
            <a:off x="6172200" y="1803400"/>
            <a:ext cx="5207000" cy="3550920"/>
          </a:xfrm>
          <a:prstGeom prst="roundRect">
            <a:avLst>
              <a:gd name="adj" fmla="val 5722"/>
            </a:avLst>
          </a:prstGeom>
          <a:gradFill rotWithShape="1">
            <a:gsLst>
              <a:gs pos="0">
                <a:srgbClr val="2A5E48"/>
              </a:gs>
              <a:gs pos="60000">
                <a:srgbClr val="1E4A38"/>
              </a:gs>
              <a:gs pos="100000">
                <a:srgbClr val="173D2E"/>
              </a:gs>
            </a:gsLst>
            <a:path path="circle">
              <a:fillToRect l="50000" t="50000" r="50000" b="50000"/>
            </a:path>
          </a:gradFill>
          <a:ln/>
          <a:effectLst>
            <a:outerShdw sx="100000" sy="100000" kx="0" ky="0" algn="bl" rotWithShape="0" blurRad="203200" dist="76200" dir="5400000">
              <a:srgbClr val="163828">
                <a:alpha val="25000"/>
              </a:srgbClr>
            </a:outerShdw>
          </a:effectLst>
        </p:spPr>
      </p:sp>
      <p:sp>
        <p:nvSpPr>
          <p:cNvPr id="17" name="Text 15"/>
          <p:cNvSpPr/>
          <p:nvPr/>
        </p:nvSpPr>
        <p:spPr>
          <a:xfrm>
            <a:off x="8341837" y="2006600"/>
            <a:ext cx="10412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D3C6"/>
                </a:solidFill>
                <a:latin typeface="Nunito Sans" pitchFamily="34" charset="0"/>
                <a:ea typeface="Nunito Sans" pitchFamily="34" charset="-122"/>
                <a:cs typeface="Nunito Sans" pitchFamily="34" charset="-120"/>
              </a:rPr>
              <a:t>PARCEIRO</a:t>
            </a:r>
            <a:endParaRPr lang="en-US" sz="1200" dirty="0"/>
          </a:p>
        </p:txBody>
      </p:sp>
      <p:sp>
        <p:nvSpPr>
          <p:cNvPr id="18" name="Shape 16"/>
          <p:cNvSpPr/>
          <p:nvPr/>
        </p:nvSpPr>
        <p:spPr>
          <a:xfrm>
            <a:off x="8502650" y="2283460"/>
            <a:ext cx="546100" cy="762000"/>
          </a:xfrm>
          <a:prstGeom prst="roundRect">
            <a:avLst>
              <a:gd name="adj" fmla="val 11628"/>
            </a:avLst>
          </a:prstGeom>
          <a:solidFill>
            <a:srgbClr val="FBF8F1"/>
          </a:solidFill>
          <a:ln w="25400">
            <a:solidFill>
              <a:srgbClr val="E0B654"/>
            </a:solidFill>
            <a:prstDash val="solid"/>
          </a:ln>
          <a:effectLst>
            <a:outerShdw sx="100000" sy="100000" kx="0" ky="0" algn="bl" rotWithShape="0" blurRad="88900" dist="38100" dir="5400000">
              <a:srgbClr val="000000">
                <a:alpha val="30000"/>
              </a:srgbClr>
            </a:outerShdw>
          </a:effectLst>
        </p:spPr>
      </p:sp>
      <p:sp>
        <p:nvSpPr>
          <p:cNvPr id="19" name="Text 17"/>
          <p:cNvSpPr/>
          <p:nvPr/>
        </p:nvSpPr>
        <p:spPr>
          <a:xfrm>
            <a:off x="8578850" y="2346960"/>
            <a:ext cx="444500" cy="191056"/>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7♦</a:t>
            </a:r>
            <a:endParaRPr lang="en-US" sz="1200" dirty="0"/>
          </a:p>
        </p:txBody>
      </p:sp>
      <p:sp>
        <p:nvSpPr>
          <p:cNvPr id="20" name="Text 18"/>
          <p:cNvSpPr/>
          <p:nvPr/>
        </p:nvSpPr>
        <p:spPr>
          <a:xfrm>
            <a:off x="8553450" y="2512616"/>
            <a:ext cx="444500" cy="329089"/>
          </a:xfrm>
          <a:prstGeom prst="rect">
            <a:avLst/>
          </a:prstGeom>
          <a:noFill/>
          <a:ln/>
        </p:spPr>
        <p:txBody>
          <a:bodyPr wrap="square" lIns="0" tIns="0" rIns="0" bIns="0" rtlCol="0" anchor="t">
            <a:normAutofit/>
          </a:bodyPr>
          <a:lstStyle/>
          <a:p>
            <a:pPr algn="ctr" indent="0" marL="0">
              <a:lnSpc>
                <a:spcPts val="2420"/>
              </a:lnSpc>
              <a:buNone/>
            </a:pPr>
            <a:r>
              <a:rPr lang="en-US" sz="2200" dirty="0">
                <a:solidFill>
                  <a:srgbClr val="B3362C"/>
                </a:solidFill>
                <a:latin typeface="Nunito Sans" pitchFamily="34" charset="0"/>
                <a:ea typeface="Nunito Sans" pitchFamily="34" charset="-122"/>
                <a:cs typeface="Nunito Sans" pitchFamily="34" charset="-120"/>
              </a:rPr>
              <a:t>♦</a:t>
            </a:r>
            <a:endParaRPr lang="en-US" sz="2200" dirty="0"/>
          </a:p>
        </p:txBody>
      </p:sp>
      <p:sp>
        <p:nvSpPr>
          <p:cNvPr id="21" name="Text 19"/>
          <p:cNvSpPr/>
          <p:nvPr/>
        </p:nvSpPr>
        <p:spPr>
          <a:xfrm rot="10800000">
            <a:off x="8528050" y="2791182"/>
            <a:ext cx="444500" cy="19050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7♦</a:t>
            </a:r>
            <a:endParaRPr lang="en-US" sz="1200" dirty="0"/>
          </a:p>
        </p:txBody>
      </p:sp>
      <p:sp>
        <p:nvSpPr>
          <p:cNvPr id="22" name="Text 20"/>
          <p:cNvSpPr/>
          <p:nvPr/>
        </p:nvSpPr>
        <p:spPr>
          <a:xfrm>
            <a:off x="9311164" y="2768600"/>
            <a:ext cx="1460500" cy="289560"/>
          </a:xfrm>
          <a:custGeom>
            <a:avLst/>
            <a:gdLst/>
            <a:ahLst/>
            <a:cxnLst/>
            <a:rect l="l" t="t" r="r" b="b"/>
            <a:pathLst>
              <a:path w="1460500" h="289560">
                <a:moveTo>
                  <a:pt x="144780" y="0"/>
                </a:moveTo>
                <a:lnTo>
                  <a:pt x="1315720" y="0"/>
                </a:lnTo>
                <a:arcTo hR="144780" wR="144780" stAng="16200000" swAng="5400000"/>
                <a:lnTo>
                  <a:pt x="1460500" y="144780"/>
                </a:lnTo>
                <a:arcTo hR="144780" wR="144780" stAng="0" swAng="5400000"/>
                <a:lnTo>
                  <a:pt x="144780" y="289560"/>
                </a:lnTo>
                <a:arcTo hR="144780" wR="144780" stAng="5400000" swAng="5400000"/>
                <a:lnTo>
                  <a:pt x="0" y="144780"/>
                </a:lnTo>
                <a:arcTo hR="144780" wR="144780" stAng="10800000" swAng="5400000"/>
                <a:close/>
              </a:path>
            </a:pathLst>
          </a:custGeom>
          <a:solidFill>
            <a:srgbClr val="E0B654"/>
          </a:solidFill>
          <a:ln/>
        </p:spPr>
        <p:txBody>
          <a:bodyPr wrap="square" lIns="76200" tIns="38100" rIns="76200" bIns="12700" rtlCol="0" anchor="t">
            <a:normAutofit/>
          </a:bodyPr>
          <a:lstStyle/>
          <a:p>
            <a:pPr algn="ctr" indent="0" marL="0">
              <a:lnSpc>
                <a:spcPts val="1680"/>
              </a:lnSpc>
              <a:buNone/>
            </a:pPr>
            <a:r>
              <a:rPr lang="en-US" sz="1200" b="1" dirty="0">
                <a:solidFill>
                  <a:srgbClr val="1A2620"/>
                </a:solidFill>
                <a:latin typeface="Nunito Sans" pitchFamily="34" charset="0"/>
                <a:ea typeface="Nunito Sans" pitchFamily="34" charset="-122"/>
                <a:cs typeface="Nunito Sans" pitchFamily="34" charset="-120"/>
              </a:rPr>
              <a:t>maior na mesa</a:t>
            </a:r>
            <a:endParaRPr lang="en-US" sz="1200" dirty="0"/>
          </a:p>
        </p:txBody>
      </p:sp>
      <p:sp>
        <p:nvSpPr>
          <p:cNvPr id="23" name="Text 21"/>
          <p:cNvSpPr/>
          <p:nvPr/>
        </p:nvSpPr>
        <p:spPr>
          <a:xfrm>
            <a:off x="6330315" y="3185160"/>
            <a:ext cx="1360170"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FD3C6"/>
                </a:solidFill>
                <a:latin typeface="Nunito Sans" pitchFamily="34" charset="0"/>
                <a:ea typeface="Nunito Sans" pitchFamily="34" charset="-122"/>
                <a:cs typeface="Nunito Sans" pitchFamily="34" charset="-120"/>
              </a:rPr>
              <a:t>ADVERSÁRIO</a:t>
            </a:r>
            <a:endParaRPr lang="en-US" sz="1200" dirty="0"/>
          </a:p>
        </p:txBody>
      </p:sp>
      <p:sp>
        <p:nvSpPr>
          <p:cNvPr id="24" name="Shape 22"/>
          <p:cNvSpPr/>
          <p:nvPr/>
        </p:nvSpPr>
        <p:spPr>
          <a:xfrm>
            <a:off x="6724650" y="3449320"/>
            <a:ext cx="571500" cy="787400"/>
          </a:xfrm>
          <a:prstGeom prst="roundRect">
            <a:avLst>
              <a:gd name="adj" fmla="val 13333"/>
            </a:avLst>
          </a:prstGeom>
          <a:solidFill>
            <a:srgbClr val="FBF8F1"/>
          </a:solidFill>
          <a:ln/>
          <a:effectLst>
            <a:outerShdw sx="100000" sy="100000" kx="0" ky="0" algn="bl" rotWithShape="0" blurRad="88900" dist="38100" dir="5400000">
              <a:srgbClr val="000000">
                <a:alpha val="30000"/>
              </a:srgbClr>
            </a:outerShdw>
          </a:effectLst>
        </p:spPr>
      </p:sp>
      <p:sp>
        <p:nvSpPr>
          <p:cNvPr id="25" name="Text 23"/>
          <p:cNvSpPr/>
          <p:nvPr/>
        </p:nvSpPr>
        <p:spPr>
          <a:xfrm>
            <a:off x="6788150" y="3500120"/>
            <a:ext cx="495300" cy="19304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1A2620"/>
                </a:solidFill>
                <a:latin typeface="Nunito Sans" pitchFamily="34" charset="0"/>
                <a:ea typeface="Nunito Sans" pitchFamily="34" charset="-122"/>
                <a:cs typeface="Nunito Sans" pitchFamily="34" charset="-120"/>
              </a:rPr>
              <a:t>2♣</a:t>
            </a:r>
            <a:endParaRPr lang="en-US" sz="1200" dirty="0"/>
          </a:p>
        </p:txBody>
      </p:sp>
      <p:sp>
        <p:nvSpPr>
          <p:cNvPr id="26" name="Text 24"/>
          <p:cNvSpPr/>
          <p:nvPr/>
        </p:nvSpPr>
        <p:spPr>
          <a:xfrm>
            <a:off x="6762750" y="3689350"/>
            <a:ext cx="495300" cy="332740"/>
          </a:xfrm>
          <a:prstGeom prst="rect">
            <a:avLst/>
          </a:prstGeom>
          <a:noFill/>
          <a:ln/>
        </p:spPr>
        <p:txBody>
          <a:bodyPr wrap="square" lIns="0" tIns="0" rIns="0" bIns="0" rtlCol="0" anchor="t">
            <a:normAutofit/>
          </a:bodyPr>
          <a:lstStyle/>
          <a:p>
            <a:pPr algn="ctr" indent="0" marL="0">
              <a:lnSpc>
                <a:spcPts val="2420"/>
              </a:lnSpc>
              <a:buNone/>
            </a:pPr>
            <a:r>
              <a:rPr lang="en-US" sz="2200" dirty="0">
                <a:solidFill>
                  <a:srgbClr val="1A2620"/>
                </a:solidFill>
                <a:latin typeface="Nunito Sans" pitchFamily="34" charset="0"/>
                <a:ea typeface="Nunito Sans" pitchFamily="34" charset="-122"/>
                <a:cs typeface="Nunito Sans" pitchFamily="34" charset="-120"/>
              </a:rPr>
              <a:t>♣</a:t>
            </a:r>
            <a:endParaRPr lang="en-US" sz="2200" dirty="0"/>
          </a:p>
        </p:txBody>
      </p:sp>
      <p:sp>
        <p:nvSpPr>
          <p:cNvPr id="27" name="Text 25"/>
          <p:cNvSpPr/>
          <p:nvPr/>
        </p:nvSpPr>
        <p:spPr>
          <a:xfrm rot="10800000">
            <a:off x="6737350" y="3994150"/>
            <a:ext cx="495300" cy="19050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1A2620"/>
                </a:solidFill>
                <a:latin typeface="Nunito Sans" pitchFamily="34" charset="0"/>
                <a:ea typeface="Nunito Sans" pitchFamily="34" charset="-122"/>
                <a:cs typeface="Nunito Sans" pitchFamily="34" charset="-120"/>
              </a:rPr>
              <a:t>2♣</a:t>
            </a:r>
            <a:endParaRPr lang="en-US" sz="1200" dirty="0"/>
          </a:p>
        </p:txBody>
      </p:sp>
      <p:sp>
        <p:nvSpPr>
          <p:cNvPr id="28" name="Shape 26"/>
          <p:cNvSpPr/>
          <p:nvPr/>
        </p:nvSpPr>
        <p:spPr>
          <a:xfrm>
            <a:off x="8101489" y="3281680"/>
            <a:ext cx="1348423" cy="858520"/>
          </a:xfrm>
          <a:prstGeom prst="roundRect">
            <a:avLst>
              <a:gd name="adj" fmla="val 10355"/>
            </a:avLst>
          </a:prstGeom>
          <a:solidFill>
            <a:srgbClr val="163828"/>
          </a:solidFill>
          <a:ln/>
        </p:spPr>
      </p:sp>
      <p:sp>
        <p:nvSpPr>
          <p:cNvPr id="29" name="Text 27"/>
          <p:cNvSpPr/>
          <p:nvPr/>
        </p:nvSpPr>
        <p:spPr>
          <a:xfrm>
            <a:off x="8279289" y="3357880"/>
            <a:ext cx="117062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D3C6"/>
                </a:solidFill>
                <a:latin typeface="Nunito Sans" pitchFamily="34" charset="0"/>
                <a:ea typeface="Nunito Sans" pitchFamily="34" charset="-122"/>
                <a:cs typeface="Nunito Sans" pitchFamily="34" charset="-120"/>
              </a:rPr>
              <a:t>NÓS × ELES</a:t>
            </a:r>
            <a:endParaRPr lang="en-US" sz="1200" dirty="0"/>
          </a:p>
        </p:txBody>
      </p:sp>
      <p:sp>
        <p:nvSpPr>
          <p:cNvPr id="30" name="Text 28"/>
          <p:cNvSpPr/>
          <p:nvPr/>
        </p:nvSpPr>
        <p:spPr>
          <a:xfrm>
            <a:off x="8446040" y="3571240"/>
            <a:ext cx="659321" cy="304800"/>
          </a:xfrm>
          <a:prstGeom prst="rect">
            <a:avLst/>
          </a:prstGeom>
          <a:noFill/>
          <a:ln/>
        </p:spPr>
        <p:txBody>
          <a:bodyPr wrap="square" lIns="0" tIns="0" rIns="0" bIns="0" rtlCol="0" anchor="t">
            <a:normAutofit/>
          </a:bodyPr>
          <a:lstStyle/>
          <a:p>
            <a:pPr algn="ctr" indent="0" marL="0">
              <a:lnSpc>
                <a:spcPts val="2200"/>
              </a:lnSpc>
              <a:buNone/>
            </a:pPr>
            <a:r>
              <a:rPr lang="en-US" sz="2000" b="1" dirty="0">
                <a:solidFill>
                  <a:srgbClr val="F5EFE2"/>
                </a:solidFill>
                <a:latin typeface="Domine" pitchFamily="18" charset="0"/>
                <a:ea typeface="Domine" pitchFamily="18" charset="-122"/>
                <a:cs typeface="Domine" pitchFamily="18" charset="-120"/>
              </a:rPr>
              <a:t>6 × 4</a:t>
            </a:r>
            <a:endParaRPr lang="en-US" sz="2000" dirty="0"/>
          </a:p>
        </p:txBody>
      </p:sp>
      <p:sp>
        <p:nvSpPr>
          <p:cNvPr id="31" name="Text 29"/>
          <p:cNvSpPr/>
          <p:nvPr/>
        </p:nvSpPr>
        <p:spPr>
          <a:xfrm>
            <a:off x="8326319" y="3850640"/>
            <a:ext cx="89868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D3C6"/>
                </a:solidFill>
                <a:latin typeface="Nunito Sans" pitchFamily="34" charset="0"/>
                <a:ea typeface="Nunito Sans" pitchFamily="34" charset="-122"/>
                <a:cs typeface="Nunito Sans" pitchFamily="34" charset="-120"/>
              </a:rPr>
              <a:t>mão vale 1</a:t>
            </a:r>
            <a:endParaRPr lang="en-US" sz="1200" dirty="0"/>
          </a:p>
        </p:txBody>
      </p:sp>
      <p:sp>
        <p:nvSpPr>
          <p:cNvPr id="32" name="Text 30"/>
          <p:cNvSpPr/>
          <p:nvPr/>
        </p:nvSpPr>
        <p:spPr>
          <a:xfrm>
            <a:off x="9860915" y="3185160"/>
            <a:ext cx="1360170" cy="23876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BFD3C6"/>
                </a:solidFill>
                <a:latin typeface="Nunito Sans" pitchFamily="34" charset="0"/>
                <a:ea typeface="Nunito Sans" pitchFamily="34" charset="-122"/>
                <a:cs typeface="Nunito Sans" pitchFamily="34" charset="-120"/>
              </a:rPr>
              <a:t>ADVERSÁRIO</a:t>
            </a:r>
            <a:endParaRPr lang="en-US" sz="1200" dirty="0"/>
          </a:p>
        </p:txBody>
      </p:sp>
      <p:sp>
        <p:nvSpPr>
          <p:cNvPr id="33" name="Shape 31"/>
          <p:cNvSpPr/>
          <p:nvPr/>
        </p:nvSpPr>
        <p:spPr>
          <a:xfrm>
            <a:off x="10255250" y="3449320"/>
            <a:ext cx="571500" cy="787400"/>
          </a:xfrm>
          <a:prstGeom prst="roundRect">
            <a:avLst>
              <a:gd name="adj" fmla="val 13333"/>
            </a:avLst>
          </a:prstGeom>
          <a:solidFill>
            <a:srgbClr val="FBF8F1"/>
          </a:solidFill>
          <a:ln/>
          <a:effectLst>
            <a:outerShdw sx="100000" sy="100000" kx="0" ky="0" algn="bl" rotWithShape="0" blurRad="88900" dist="38100" dir="5400000">
              <a:srgbClr val="000000">
                <a:alpha val="30000"/>
              </a:srgbClr>
            </a:outerShdw>
          </a:effectLst>
        </p:spPr>
      </p:sp>
      <p:sp>
        <p:nvSpPr>
          <p:cNvPr id="34" name="Text 32"/>
          <p:cNvSpPr/>
          <p:nvPr/>
        </p:nvSpPr>
        <p:spPr>
          <a:xfrm>
            <a:off x="10318750" y="3500120"/>
            <a:ext cx="495300" cy="19304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3♥</a:t>
            </a:r>
            <a:endParaRPr lang="en-US" sz="1200" dirty="0"/>
          </a:p>
        </p:txBody>
      </p:sp>
      <p:sp>
        <p:nvSpPr>
          <p:cNvPr id="35" name="Text 33"/>
          <p:cNvSpPr/>
          <p:nvPr/>
        </p:nvSpPr>
        <p:spPr>
          <a:xfrm>
            <a:off x="10293350" y="3689350"/>
            <a:ext cx="495300" cy="332740"/>
          </a:xfrm>
          <a:prstGeom prst="rect">
            <a:avLst/>
          </a:prstGeom>
          <a:noFill/>
          <a:ln/>
        </p:spPr>
        <p:txBody>
          <a:bodyPr wrap="square" lIns="0" tIns="0" rIns="0" bIns="0" rtlCol="0" anchor="t">
            <a:normAutofit/>
          </a:bodyPr>
          <a:lstStyle/>
          <a:p>
            <a:pPr algn="ctr" indent="0" marL="0">
              <a:lnSpc>
                <a:spcPts val="2420"/>
              </a:lnSpc>
              <a:buNone/>
            </a:pPr>
            <a:r>
              <a:rPr lang="en-US" sz="2200" dirty="0">
                <a:solidFill>
                  <a:srgbClr val="B3362C"/>
                </a:solidFill>
                <a:latin typeface="Nunito Sans" pitchFamily="34" charset="0"/>
                <a:ea typeface="Nunito Sans" pitchFamily="34" charset="-122"/>
                <a:cs typeface="Nunito Sans" pitchFamily="34" charset="-120"/>
              </a:rPr>
              <a:t>♥</a:t>
            </a:r>
            <a:endParaRPr lang="en-US" sz="2200" dirty="0"/>
          </a:p>
        </p:txBody>
      </p:sp>
      <p:sp>
        <p:nvSpPr>
          <p:cNvPr id="36" name="Text 34"/>
          <p:cNvSpPr/>
          <p:nvPr/>
        </p:nvSpPr>
        <p:spPr>
          <a:xfrm rot="10800000">
            <a:off x="10267950" y="3994150"/>
            <a:ext cx="495300" cy="19050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3♥</a:t>
            </a:r>
            <a:endParaRPr lang="en-US" sz="1200" dirty="0"/>
          </a:p>
        </p:txBody>
      </p:sp>
      <p:sp>
        <p:nvSpPr>
          <p:cNvPr id="37" name="Text 35"/>
          <p:cNvSpPr/>
          <p:nvPr/>
        </p:nvSpPr>
        <p:spPr>
          <a:xfrm>
            <a:off x="6375400" y="4650740"/>
            <a:ext cx="939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D3C6"/>
                </a:solidFill>
                <a:latin typeface="Nunito Sans" pitchFamily="34" charset="0"/>
                <a:ea typeface="Nunito Sans" pitchFamily="34" charset="-122"/>
                <a:cs typeface="Nunito Sans" pitchFamily="34" charset="-120"/>
              </a:rPr>
              <a:t>AGENTE</a:t>
            </a:r>
            <a:endParaRPr lang="en-US" sz="1200" dirty="0"/>
          </a:p>
        </p:txBody>
      </p:sp>
      <p:sp>
        <p:nvSpPr>
          <p:cNvPr id="38" name="Shape 36"/>
          <p:cNvSpPr/>
          <p:nvPr/>
        </p:nvSpPr>
        <p:spPr>
          <a:xfrm>
            <a:off x="7391400" y="4363720"/>
            <a:ext cx="571500" cy="787400"/>
          </a:xfrm>
          <a:prstGeom prst="roundRect">
            <a:avLst>
              <a:gd name="adj" fmla="val 13333"/>
            </a:avLst>
          </a:prstGeom>
          <a:solidFill>
            <a:srgbClr val="FBF8F1"/>
          </a:solidFill>
          <a:ln/>
          <a:effectLst>
            <a:outerShdw sx="100000" sy="100000" kx="0" ky="0" algn="bl" rotWithShape="0" blurRad="88900" dist="38100" dir="5400000">
              <a:srgbClr val="000000">
                <a:alpha val="30000"/>
              </a:srgbClr>
            </a:outerShdw>
          </a:effectLst>
        </p:spPr>
      </p:sp>
      <p:sp>
        <p:nvSpPr>
          <p:cNvPr id="39" name="Text 37"/>
          <p:cNvSpPr/>
          <p:nvPr/>
        </p:nvSpPr>
        <p:spPr>
          <a:xfrm>
            <a:off x="7454900" y="4414520"/>
            <a:ext cx="495300" cy="19304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1A2620"/>
                </a:solidFill>
                <a:latin typeface="Nunito Sans" pitchFamily="34" charset="0"/>
                <a:ea typeface="Nunito Sans" pitchFamily="34" charset="-122"/>
                <a:cs typeface="Nunito Sans" pitchFamily="34" charset="-120"/>
              </a:rPr>
              <a:t>A♠</a:t>
            </a:r>
            <a:endParaRPr lang="en-US" sz="1200" dirty="0"/>
          </a:p>
        </p:txBody>
      </p:sp>
      <p:sp>
        <p:nvSpPr>
          <p:cNvPr id="40" name="Text 38"/>
          <p:cNvSpPr/>
          <p:nvPr/>
        </p:nvSpPr>
        <p:spPr>
          <a:xfrm>
            <a:off x="7429500" y="4603750"/>
            <a:ext cx="495300" cy="332740"/>
          </a:xfrm>
          <a:prstGeom prst="rect">
            <a:avLst/>
          </a:prstGeom>
          <a:noFill/>
          <a:ln/>
        </p:spPr>
        <p:txBody>
          <a:bodyPr wrap="square" lIns="0" tIns="0" rIns="0" bIns="0" rtlCol="0" anchor="t">
            <a:normAutofit/>
          </a:bodyPr>
          <a:lstStyle/>
          <a:p>
            <a:pPr algn="ctr" indent="0" marL="0">
              <a:lnSpc>
                <a:spcPts val="2420"/>
              </a:lnSpc>
              <a:buNone/>
            </a:pPr>
            <a:r>
              <a:rPr lang="en-US" sz="2200" dirty="0">
                <a:solidFill>
                  <a:srgbClr val="1A2620"/>
                </a:solidFill>
                <a:latin typeface="Nunito Sans" pitchFamily="34" charset="0"/>
                <a:ea typeface="Nunito Sans" pitchFamily="34" charset="-122"/>
                <a:cs typeface="Nunito Sans" pitchFamily="34" charset="-120"/>
              </a:rPr>
              <a:t>♠</a:t>
            </a:r>
            <a:endParaRPr lang="en-US" sz="2200" dirty="0"/>
          </a:p>
        </p:txBody>
      </p:sp>
      <p:sp>
        <p:nvSpPr>
          <p:cNvPr id="41" name="Text 39"/>
          <p:cNvSpPr/>
          <p:nvPr/>
        </p:nvSpPr>
        <p:spPr>
          <a:xfrm rot="10800000">
            <a:off x="7404100" y="4908550"/>
            <a:ext cx="495300" cy="19050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1A2620"/>
                </a:solidFill>
                <a:latin typeface="Nunito Sans" pitchFamily="34" charset="0"/>
                <a:ea typeface="Nunito Sans" pitchFamily="34" charset="-122"/>
                <a:cs typeface="Nunito Sans" pitchFamily="34" charset="-120"/>
              </a:rPr>
              <a:t>A♠</a:t>
            </a:r>
            <a:endParaRPr lang="en-US" sz="1200" dirty="0"/>
          </a:p>
        </p:txBody>
      </p:sp>
      <p:sp>
        <p:nvSpPr>
          <p:cNvPr id="42" name="Shape 40"/>
          <p:cNvSpPr/>
          <p:nvPr/>
        </p:nvSpPr>
        <p:spPr>
          <a:xfrm>
            <a:off x="8039100" y="4363720"/>
            <a:ext cx="571500" cy="787400"/>
          </a:xfrm>
          <a:prstGeom prst="roundRect">
            <a:avLst>
              <a:gd name="adj" fmla="val 13333"/>
            </a:avLst>
          </a:prstGeom>
          <a:solidFill>
            <a:srgbClr val="FBF8F1"/>
          </a:solidFill>
          <a:ln/>
          <a:effectLst>
            <a:outerShdw sx="100000" sy="100000" kx="0" ky="0" algn="bl" rotWithShape="0" blurRad="88900" dist="38100" dir="5400000">
              <a:srgbClr val="000000">
                <a:alpha val="30000"/>
              </a:srgbClr>
            </a:outerShdw>
          </a:effectLst>
        </p:spPr>
      </p:sp>
      <p:sp>
        <p:nvSpPr>
          <p:cNvPr id="43" name="Text 41"/>
          <p:cNvSpPr/>
          <p:nvPr/>
        </p:nvSpPr>
        <p:spPr>
          <a:xfrm>
            <a:off x="8102600" y="4414520"/>
            <a:ext cx="495300" cy="19304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K♦</a:t>
            </a:r>
            <a:endParaRPr lang="en-US" sz="1200" dirty="0"/>
          </a:p>
        </p:txBody>
      </p:sp>
      <p:sp>
        <p:nvSpPr>
          <p:cNvPr id="44" name="Text 42"/>
          <p:cNvSpPr/>
          <p:nvPr/>
        </p:nvSpPr>
        <p:spPr>
          <a:xfrm>
            <a:off x="8077200" y="4603750"/>
            <a:ext cx="495300" cy="332740"/>
          </a:xfrm>
          <a:prstGeom prst="rect">
            <a:avLst/>
          </a:prstGeom>
          <a:noFill/>
          <a:ln/>
        </p:spPr>
        <p:txBody>
          <a:bodyPr wrap="square" lIns="0" tIns="0" rIns="0" bIns="0" rtlCol="0" anchor="t">
            <a:normAutofit/>
          </a:bodyPr>
          <a:lstStyle/>
          <a:p>
            <a:pPr algn="ctr" indent="0" marL="0">
              <a:lnSpc>
                <a:spcPts val="2420"/>
              </a:lnSpc>
              <a:buNone/>
            </a:pPr>
            <a:r>
              <a:rPr lang="en-US" sz="2200" dirty="0">
                <a:solidFill>
                  <a:srgbClr val="B3362C"/>
                </a:solidFill>
                <a:latin typeface="Nunito Sans" pitchFamily="34" charset="0"/>
                <a:ea typeface="Nunito Sans" pitchFamily="34" charset="-122"/>
                <a:cs typeface="Nunito Sans" pitchFamily="34" charset="-120"/>
              </a:rPr>
              <a:t>♦</a:t>
            </a:r>
            <a:endParaRPr lang="en-US" sz="2200" dirty="0"/>
          </a:p>
        </p:txBody>
      </p:sp>
      <p:sp>
        <p:nvSpPr>
          <p:cNvPr id="45" name="Text 43"/>
          <p:cNvSpPr/>
          <p:nvPr/>
        </p:nvSpPr>
        <p:spPr>
          <a:xfrm rot="10800000">
            <a:off x="8051800" y="4908550"/>
            <a:ext cx="495300" cy="190500"/>
          </a:xfrm>
          <a:prstGeom prst="rect">
            <a:avLst/>
          </a:prstGeom>
          <a:noFill/>
          <a:ln/>
        </p:spPr>
        <p:txBody>
          <a:bodyPr wrap="square" lIns="0" tIns="0" rIns="0" bIns="0" rtlCol="0" anchor="t">
            <a:normAutofit/>
          </a:bodyPr>
          <a:lstStyle/>
          <a:p>
            <a:pPr algn="l" indent="0" marL="0">
              <a:lnSpc>
                <a:spcPts val="1320"/>
              </a:lnSpc>
              <a:buNone/>
            </a:pPr>
            <a:r>
              <a:rPr lang="en-US" sz="1200" b="1" dirty="0">
                <a:solidFill>
                  <a:srgbClr val="B3362C"/>
                </a:solidFill>
                <a:latin typeface="Nunito Sans" pitchFamily="34" charset="0"/>
                <a:ea typeface="Nunito Sans" pitchFamily="34" charset="-122"/>
                <a:cs typeface="Nunito Sans" pitchFamily="34" charset="-120"/>
              </a:rPr>
              <a:t>K♦</a:t>
            </a:r>
            <a:endParaRPr lang="en-US" sz="1200" dirty="0"/>
          </a:p>
        </p:txBody>
      </p:sp>
      <p:sp>
        <p:nvSpPr>
          <p:cNvPr id="46" name="Text 44"/>
          <p:cNvSpPr/>
          <p:nvPr/>
        </p:nvSpPr>
        <p:spPr>
          <a:xfrm>
            <a:off x="9931480" y="4445000"/>
            <a:ext cx="1238171" cy="271780"/>
          </a:xfrm>
          <a:custGeom>
            <a:avLst/>
            <a:gdLst/>
            <a:ahLst/>
            <a:cxnLst/>
            <a:rect l="l" t="t" r="r" b="b"/>
            <a:pathLst>
              <a:path w="1238171" h="271780">
                <a:moveTo>
                  <a:pt x="135890" y="0"/>
                </a:moveTo>
                <a:lnTo>
                  <a:pt x="1102281" y="0"/>
                </a:lnTo>
                <a:arcTo hR="135890" wR="135890" stAng="16200000" swAng="5400000"/>
                <a:lnTo>
                  <a:pt x="1238171"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BFD3C6"/>
            </a:solidFill>
            <a:prstDash val="solid"/>
          </a:ln>
        </p:spPr>
        <p:txBody>
          <a:bodyPr wrap="none" lIns="0" tIns="0" rIns="0" bIns="0" rtlCol="0" anchor="ctr">
            <a:normAutofit/>
          </a:bodyPr>
          <a:lstStyle/>
          <a:p>
            <a:pPr algn="ctr" indent="0" marL="0">
              <a:lnSpc>
                <a:spcPts val="1680"/>
              </a:lnSpc>
              <a:buNone/>
            </a:pPr>
            <a:r>
              <a:rPr lang="en-US" sz="1200" b="1" dirty="0">
                <a:solidFill>
                  <a:srgbClr val="F5EFE2"/>
                </a:solidFill>
                <a:latin typeface="Nunito Sans" pitchFamily="34" charset="0"/>
                <a:ea typeface="Nunito Sans" pitchFamily="34" charset="-122"/>
                <a:cs typeface="Nunito Sans" pitchFamily="34" charset="-120"/>
              </a:rPr>
              <a:t>1ª rodada: eles</a:t>
            </a:r>
            <a:endParaRPr lang="en-US" sz="1200" dirty="0"/>
          </a:p>
        </p:txBody>
      </p:sp>
      <p:sp>
        <p:nvSpPr>
          <p:cNvPr id="47" name="Text 45"/>
          <p:cNvSpPr/>
          <p:nvPr/>
        </p:nvSpPr>
        <p:spPr>
          <a:xfrm>
            <a:off x="9945450" y="4786630"/>
            <a:ext cx="1230551" cy="289560"/>
          </a:xfrm>
          <a:custGeom>
            <a:avLst/>
            <a:gdLst/>
            <a:ahLst/>
            <a:cxnLst/>
            <a:rect l="l" t="t" r="r" b="b"/>
            <a:pathLst>
              <a:path w="1230551" h="289560">
                <a:moveTo>
                  <a:pt x="144780" y="0"/>
                </a:moveTo>
                <a:lnTo>
                  <a:pt x="1085771" y="0"/>
                </a:lnTo>
                <a:arcTo hR="144780" wR="144780" stAng="16200000" swAng="5400000"/>
                <a:lnTo>
                  <a:pt x="1230551" y="144780"/>
                </a:lnTo>
                <a:arcTo hR="144780" wR="144780" stAng="0" swAng="5400000"/>
                <a:lnTo>
                  <a:pt x="144780" y="289560"/>
                </a:lnTo>
                <a:arcTo hR="144780" wR="144780" stAng="5400000" swAng="5400000"/>
                <a:lnTo>
                  <a:pt x="0" y="144780"/>
                </a:lnTo>
                <a:arcTo hR="144780" wR="144780" stAng="10800000" swAng="5400000"/>
                <a:close/>
              </a:path>
            </a:pathLst>
          </a:custGeom>
          <a:solidFill>
            <a:srgbClr val="E0B654"/>
          </a:solidFill>
          <a:ln/>
        </p:spPr>
        <p:txBody>
          <a:bodyPr wrap="none" lIns="0" tIns="0" rIns="0" bIns="0" rtlCol="0" anchor="ctr">
            <a:normAutofit/>
          </a:bodyPr>
          <a:lstStyle/>
          <a:p>
            <a:pPr algn="ctr" indent="0" marL="0">
              <a:lnSpc>
                <a:spcPts val="1680"/>
              </a:lnSpc>
              <a:buNone/>
            </a:pPr>
            <a:r>
              <a:rPr lang="en-US" sz="1200" b="1" dirty="0">
                <a:solidFill>
                  <a:srgbClr val="1A2620"/>
                </a:solidFill>
                <a:latin typeface="Nunito Sans" pitchFamily="34" charset="0"/>
                <a:ea typeface="Nunito Sans" pitchFamily="34" charset="-122"/>
                <a:cs typeface="Nunito Sans" pitchFamily="34" charset="-120"/>
              </a:rPr>
              <a:t>Vez do agente</a:t>
            </a:r>
            <a:endParaRPr lang="en-US" sz="1200" dirty="0"/>
          </a:p>
        </p:txBody>
      </p:sp>
      <p:sp>
        <p:nvSpPr>
          <p:cNvPr id="48" name="Text 46"/>
          <p:cNvSpPr/>
          <p:nvPr/>
        </p:nvSpPr>
        <p:spPr>
          <a:xfrm>
            <a:off x="6094095" y="5455920"/>
            <a:ext cx="536321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Manilhas fixas: Zap (4♣) › 7♥ › Espadilha (A♠) › 7♦</a:t>
            </a:r>
            <a:endParaRPr lang="en-US" sz="1200" dirty="0"/>
          </a:p>
          <a:p>
            <a:pPr algn="ctr"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Depois: 3 › 2 › A › K › J › Q (baralho vazio, 27 cartas)</a:t>
            </a:r>
            <a:endParaRPr lang="en-US" sz="1200" dirty="0"/>
          </a:p>
        </p:txBody>
      </p:sp>
      <p:sp>
        <p:nvSpPr>
          <p:cNvPr id="49" name="Text 47"/>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Desafio 1 · Matheus e Tarik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362C"/>
                </a:solidFill>
                <a:latin typeface="Nunito Sans" pitchFamily="34" charset="0"/>
                <a:ea typeface="Nunito Sans" pitchFamily="34" charset="-122"/>
                <a:cs typeface="Nunito Sans" pitchFamily="34" charset="-120"/>
              </a:rPr>
              <a:t>ESPAÇO DE AÇÕES · 9 AÇÕES DISCRETAS</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4A38"/>
                </a:solidFill>
                <a:latin typeface="Domine" pitchFamily="18" charset="0"/>
                <a:ea typeface="Domine" pitchFamily="18" charset="-122"/>
                <a:cs typeface="Domine" pitchFamily="18" charset="-120"/>
              </a:rPr>
              <a:t>Ações: estratégias, não cartas</a:t>
            </a:r>
            <a:endParaRPr lang="en-US" sz="3200" dirty="0"/>
          </a:p>
        </p:txBody>
      </p:sp>
      <p:sp>
        <p:nvSpPr>
          <p:cNvPr id="4" name="Text 2"/>
          <p:cNvSpPr/>
          <p:nvPr/>
        </p:nvSpPr>
        <p:spPr>
          <a:xfrm>
            <a:off x="812800" y="17526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A52"/>
                </a:solidFill>
                <a:latin typeface="Nunito Sans" pitchFamily="34" charset="0"/>
                <a:ea typeface="Nunito Sans" pitchFamily="34" charset="-122"/>
                <a:cs typeface="Nunito Sans" pitchFamily="34" charset="-120"/>
              </a:rPr>
              <a:t>O agente escolhe uma estratégia, não uma carta: a mesma ação serve para qualquer mão.</a:t>
            </a:r>
            <a:endParaRPr lang="en-US" sz="1500" dirty="0"/>
          </a:p>
        </p:txBody>
      </p:sp>
      <p:sp>
        <p:nvSpPr>
          <p:cNvPr id="5" name="Shape 3"/>
          <p:cNvSpPr/>
          <p:nvPr/>
        </p:nvSpPr>
        <p:spPr>
          <a:xfrm>
            <a:off x="812800" y="2222500"/>
            <a:ext cx="3386614" cy="3134360"/>
          </a:xfrm>
          <a:prstGeom prst="roundRect">
            <a:avLst>
              <a:gd name="adj" fmla="val 4052"/>
            </a:avLst>
          </a:prstGeom>
          <a:solidFill>
            <a:srgbClr val="FBF8F1"/>
          </a:solidFill>
          <a:ln/>
          <a:effectLst>
            <a:outerShdw sx="100000" sy="100000" kx="0" ky="0" algn="bl" rotWithShape="0" blurRad="127000" dist="38100" dir="5400000">
              <a:srgbClr val="1E4A38">
                <a:alpha val="10000"/>
              </a:srgbClr>
            </a:outerShdw>
          </a:effectLst>
        </p:spPr>
      </p:sp>
      <p:sp>
        <p:nvSpPr>
          <p:cNvPr id="6" name="Shape 4"/>
          <p:cNvSpPr/>
          <p:nvPr/>
        </p:nvSpPr>
        <p:spPr>
          <a:xfrm>
            <a:off x="812800" y="2222500"/>
            <a:ext cx="3386614" cy="3134360"/>
          </a:xfrm>
          <a:custGeom>
            <a:avLst/>
            <a:gdLst/>
            <a:ahLst/>
            <a:cxnLst/>
            <a:rect l="l" t="t" r="r" b="b"/>
            <a:pathLst>
              <a:path w="3386614" h="3134360">
                <a:moveTo>
                  <a:pt x="0" y="127000"/>
                </a:moveTo>
                <a:lnTo>
                  <a:pt x="0" y="127000"/>
                </a:lnTo>
                <a:arcTo hR="127000" wR="127000" stAng="10800000" swAng="5400000"/>
                <a:lnTo>
                  <a:pt x="3259614" y="0"/>
                </a:lnTo>
                <a:arcTo hR="127000" wR="127000" stAng="16200000" swAng="5400000"/>
                <a:lnTo>
                  <a:pt x="3386614" y="127000"/>
                </a:lnTo>
                <a:arcTo hR="76200" wR="127000" stAng="0" swAng="-5400000"/>
                <a:lnTo>
                  <a:pt x="127000" y="50800"/>
                </a:lnTo>
                <a:arcTo hR="76200" wR="127000" stAng="16200000" swAng="-5400000"/>
                <a:close/>
              </a:path>
            </a:pathLst>
          </a:custGeom>
          <a:solidFill>
            <a:srgbClr val="1E4A38"/>
          </a:solidFill>
          <a:ln/>
        </p:spPr>
      </p:sp>
      <p:sp>
        <p:nvSpPr>
          <p:cNvPr id="7" name="Text 5"/>
          <p:cNvSpPr/>
          <p:nvPr/>
        </p:nvSpPr>
        <p:spPr>
          <a:xfrm>
            <a:off x="1041400" y="2501900"/>
            <a:ext cx="30172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4A38"/>
                </a:solidFill>
                <a:latin typeface="Domine" pitchFamily="18" charset="0"/>
                <a:ea typeface="Domine" pitchFamily="18" charset="-122"/>
                <a:cs typeface="Domine" pitchFamily="18" charset="-120"/>
              </a:rPr>
              <a:t>♣</a:t>
            </a:r>
            <a:r>
              <a:rPr lang="en-US" sz="1800" b="1" dirty="0">
                <a:solidFill>
                  <a:srgbClr val="1A2620"/>
                </a:solidFill>
                <a:latin typeface="Domine" pitchFamily="18" charset="0"/>
                <a:ea typeface="Domine" pitchFamily="18" charset="-122"/>
                <a:cs typeface="Domine" pitchFamily="18" charset="-120"/>
              </a:rPr>
              <a:t> Há cartas na mesa</a:t>
            </a:r>
            <a:endParaRPr lang="en-US" sz="1800" dirty="0"/>
          </a:p>
        </p:txBody>
      </p:sp>
      <p:sp>
        <p:nvSpPr>
          <p:cNvPr id="8" name="Text 6"/>
          <p:cNvSpPr/>
          <p:nvPr/>
        </p:nvSpPr>
        <p:spPr>
          <a:xfrm>
            <a:off x="1041400" y="2928620"/>
            <a:ext cx="30172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Matar barato</a:t>
            </a:r>
            <a:endParaRPr lang="en-US" sz="1500" dirty="0"/>
          </a:p>
        </p:txBody>
      </p:sp>
      <p:sp>
        <p:nvSpPr>
          <p:cNvPr id="9" name="Text 7"/>
          <p:cNvSpPr/>
          <p:nvPr/>
        </p:nvSpPr>
        <p:spPr>
          <a:xfrm>
            <a:off x="1041400" y="3169920"/>
            <a:ext cx="301729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menor carta que vence a mesa</a:t>
            </a:r>
            <a:endParaRPr lang="en-US" sz="1300" dirty="0"/>
          </a:p>
        </p:txBody>
      </p:sp>
      <p:sp>
        <p:nvSpPr>
          <p:cNvPr id="10" name="Text 8"/>
          <p:cNvSpPr/>
          <p:nvPr/>
        </p:nvSpPr>
        <p:spPr>
          <a:xfrm>
            <a:off x="1041400" y="3507105"/>
            <a:ext cx="30172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Matar forte</a:t>
            </a:r>
            <a:endParaRPr lang="en-US" sz="1500" dirty="0"/>
          </a:p>
        </p:txBody>
      </p:sp>
      <p:sp>
        <p:nvSpPr>
          <p:cNvPr id="11" name="Text 9"/>
          <p:cNvSpPr/>
          <p:nvPr/>
        </p:nvSpPr>
        <p:spPr>
          <a:xfrm>
            <a:off x="1041400" y="3748405"/>
            <a:ext cx="301729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maior carta que vence a mesa</a:t>
            </a:r>
            <a:endParaRPr lang="en-US" sz="1300" dirty="0"/>
          </a:p>
        </p:txBody>
      </p:sp>
      <p:sp>
        <p:nvSpPr>
          <p:cNvPr id="12" name="Text 10"/>
          <p:cNvSpPr/>
          <p:nvPr/>
        </p:nvSpPr>
        <p:spPr>
          <a:xfrm>
            <a:off x="1041400" y="4085590"/>
            <a:ext cx="30172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Deixar fazer</a:t>
            </a:r>
            <a:endParaRPr lang="en-US" sz="1500" dirty="0"/>
          </a:p>
        </p:txBody>
      </p:sp>
      <p:sp>
        <p:nvSpPr>
          <p:cNvPr id="13" name="Text 11"/>
          <p:cNvSpPr/>
          <p:nvPr/>
        </p:nvSpPr>
        <p:spPr>
          <a:xfrm>
            <a:off x="1041400" y="4326890"/>
            <a:ext cx="301729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menor carta, sem disputar</a:t>
            </a:r>
            <a:endParaRPr lang="en-US" sz="1300" dirty="0"/>
          </a:p>
        </p:txBody>
      </p:sp>
      <p:sp>
        <p:nvSpPr>
          <p:cNvPr id="14" name="Text 12"/>
          <p:cNvSpPr/>
          <p:nvPr/>
        </p:nvSpPr>
        <p:spPr>
          <a:xfrm>
            <a:off x="1041400" y="4664075"/>
            <a:ext cx="30172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Esconder</a:t>
            </a:r>
            <a:endParaRPr lang="en-US" sz="1500" dirty="0"/>
          </a:p>
        </p:txBody>
      </p:sp>
      <p:sp>
        <p:nvSpPr>
          <p:cNvPr id="15" name="Text 13"/>
          <p:cNvSpPr/>
          <p:nvPr/>
        </p:nvSpPr>
        <p:spPr>
          <a:xfrm>
            <a:off x="1041400" y="4905375"/>
            <a:ext cx="3017296"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menor carta, virada</a:t>
            </a:r>
            <a:endParaRPr lang="en-US" sz="1300" dirty="0"/>
          </a:p>
        </p:txBody>
      </p:sp>
      <p:sp>
        <p:nvSpPr>
          <p:cNvPr id="16" name="Shape 14"/>
          <p:cNvSpPr/>
          <p:nvPr/>
        </p:nvSpPr>
        <p:spPr>
          <a:xfrm>
            <a:off x="4402614" y="2222500"/>
            <a:ext cx="3386693" cy="3134360"/>
          </a:xfrm>
          <a:prstGeom prst="roundRect">
            <a:avLst>
              <a:gd name="adj" fmla="val 4052"/>
            </a:avLst>
          </a:prstGeom>
          <a:solidFill>
            <a:srgbClr val="FBF8F1"/>
          </a:solidFill>
          <a:ln/>
          <a:effectLst>
            <a:outerShdw sx="100000" sy="100000" kx="0" ky="0" algn="bl" rotWithShape="0" blurRad="127000" dist="38100" dir="5400000">
              <a:srgbClr val="1E4A38">
                <a:alpha val="10000"/>
              </a:srgbClr>
            </a:outerShdw>
          </a:effectLst>
        </p:spPr>
      </p:sp>
      <p:sp>
        <p:nvSpPr>
          <p:cNvPr id="17" name="Shape 15"/>
          <p:cNvSpPr/>
          <p:nvPr/>
        </p:nvSpPr>
        <p:spPr>
          <a:xfrm>
            <a:off x="4402614" y="2222500"/>
            <a:ext cx="3386693" cy="3134360"/>
          </a:xfrm>
          <a:custGeom>
            <a:avLst/>
            <a:gdLst/>
            <a:ahLst/>
            <a:cxnLst/>
            <a:rect l="l" t="t" r="r" b="b"/>
            <a:pathLst>
              <a:path w="3386693" h="3134360">
                <a:moveTo>
                  <a:pt x="0" y="127000"/>
                </a:moveTo>
                <a:lnTo>
                  <a:pt x="0" y="127000"/>
                </a:lnTo>
                <a:arcTo hR="127000" wR="127000" stAng="10800000" swAng="5400000"/>
                <a:lnTo>
                  <a:pt x="3259693" y="0"/>
                </a:lnTo>
                <a:arcTo hR="127000" wR="127000" stAng="16200000" swAng="5400000"/>
                <a:lnTo>
                  <a:pt x="3386693" y="127000"/>
                </a:lnTo>
                <a:arcTo hR="76200" wR="127000" stAng="0" swAng="-5400000"/>
                <a:lnTo>
                  <a:pt x="127000" y="50800"/>
                </a:lnTo>
                <a:arcTo hR="76200" wR="127000" stAng="16200000" swAng="-5400000"/>
                <a:close/>
              </a:path>
            </a:pathLst>
          </a:custGeom>
          <a:solidFill>
            <a:srgbClr val="C99A2E"/>
          </a:solidFill>
          <a:ln/>
        </p:spPr>
      </p:sp>
      <p:sp>
        <p:nvSpPr>
          <p:cNvPr id="18" name="Text 16"/>
          <p:cNvSpPr/>
          <p:nvPr/>
        </p:nvSpPr>
        <p:spPr>
          <a:xfrm>
            <a:off x="4631214" y="2501900"/>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99A2E"/>
                </a:solidFill>
                <a:latin typeface="Domine" pitchFamily="18" charset="0"/>
                <a:ea typeface="Domine" pitchFamily="18" charset="-122"/>
                <a:cs typeface="Domine" pitchFamily="18" charset="-120"/>
              </a:rPr>
              <a:t>♦</a:t>
            </a:r>
            <a:r>
              <a:rPr lang="en-US" sz="1800" b="1" dirty="0">
                <a:solidFill>
                  <a:srgbClr val="1A2620"/>
                </a:solidFill>
                <a:latin typeface="Domine" pitchFamily="18" charset="0"/>
                <a:ea typeface="Domine" pitchFamily="18" charset="-122"/>
                <a:cs typeface="Domine" pitchFamily="18" charset="-120"/>
              </a:rPr>
              <a:t> Abrindo a rodada</a:t>
            </a:r>
            <a:endParaRPr lang="en-US" sz="1800" dirty="0"/>
          </a:p>
        </p:txBody>
      </p:sp>
      <p:sp>
        <p:nvSpPr>
          <p:cNvPr id="19" name="Text 17"/>
          <p:cNvSpPr/>
          <p:nvPr/>
        </p:nvSpPr>
        <p:spPr>
          <a:xfrm>
            <a:off x="4631214" y="2928620"/>
            <a:ext cx="3017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Abrir forte</a:t>
            </a:r>
            <a:endParaRPr lang="en-US" sz="1500" dirty="0"/>
          </a:p>
        </p:txBody>
      </p:sp>
      <p:sp>
        <p:nvSpPr>
          <p:cNvPr id="20" name="Text 18"/>
          <p:cNvSpPr/>
          <p:nvPr/>
        </p:nvSpPr>
        <p:spPr>
          <a:xfrm>
            <a:off x="4631214" y="3169920"/>
            <a:ext cx="3017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joga a maior carta</a:t>
            </a:r>
            <a:endParaRPr lang="en-US" sz="1300" dirty="0"/>
          </a:p>
        </p:txBody>
      </p:sp>
      <p:sp>
        <p:nvSpPr>
          <p:cNvPr id="21" name="Text 19"/>
          <p:cNvSpPr/>
          <p:nvPr/>
        </p:nvSpPr>
        <p:spPr>
          <a:xfrm>
            <a:off x="4631214" y="3507105"/>
            <a:ext cx="3017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Abrir fraco</a:t>
            </a:r>
            <a:endParaRPr lang="en-US" sz="1500" dirty="0"/>
          </a:p>
        </p:txBody>
      </p:sp>
      <p:sp>
        <p:nvSpPr>
          <p:cNvPr id="22" name="Text 20"/>
          <p:cNvSpPr/>
          <p:nvPr/>
        </p:nvSpPr>
        <p:spPr>
          <a:xfrm>
            <a:off x="4631214" y="3748405"/>
            <a:ext cx="3017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joga a menor carta</a:t>
            </a:r>
            <a:endParaRPr lang="en-US" sz="1300" dirty="0"/>
          </a:p>
        </p:txBody>
      </p:sp>
      <p:sp>
        <p:nvSpPr>
          <p:cNvPr id="23" name="Shape 21"/>
          <p:cNvSpPr/>
          <p:nvPr/>
        </p:nvSpPr>
        <p:spPr>
          <a:xfrm>
            <a:off x="7992507" y="2222500"/>
            <a:ext cx="3386693" cy="3134360"/>
          </a:xfrm>
          <a:prstGeom prst="roundRect">
            <a:avLst>
              <a:gd name="adj" fmla="val 4052"/>
            </a:avLst>
          </a:prstGeom>
          <a:solidFill>
            <a:srgbClr val="FBF8F1"/>
          </a:solidFill>
          <a:ln/>
          <a:effectLst>
            <a:outerShdw sx="100000" sy="100000" kx="0" ky="0" algn="bl" rotWithShape="0" blurRad="127000" dist="38100" dir="5400000">
              <a:srgbClr val="1E4A38">
                <a:alpha val="10000"/>
              </a:srgbClr>
            </a:outerShdw>
          </a:effectLst>
        </p:spPr>
      </p:sp>
      <p:sp>
        <p:nvSpPr>
          <p:cNvPr id="24" name="Shape 22"/>
          <p:cNvSpPr/>
          <p:nvPr/>
        </p:nvSpPr>
        <p:spPr>
          <a:xfrm>
            <a:off x="7992507" y="2222500"/>
            <a:ext cx="3386693" cy="3134360"/>
          </a:xfrm>
          <a:custGeom>
            <a:avLst/>
            <a:gdLst/>
            <a:ahLst/>
            <a:cxnLst/>
            <a:rect l="l" t="t" r="r" b="b"/>
            <a:pathLst>
              <a:path w="3386693" h="3134360">
                <a:moveTo>
                  <a:pt x="0" y="127000"/>
                </a:moveTo>
                <a:lnTo>
                  <a:pt x="0" y="127000"/>
                </a:lnTo>
                <a:arcTo hR="127000" wR="127000" stAng="10800000" swAng="5400000"/>
                <a:lnTo>
                  <a:pt x="3259693" y="0"/>
                </a:lnTo>
                <a:arcTo hR="127000" wR="127000" stAng="16200000" swAng="5400000"/>
                <a:lnTo>
                  <a:pt x="3386693" y="127000"/>
                </a:lnTo>
                <a:arcTo hR="76200" wR="127000" stAng="0" swAng="-5400000"/>
                <a:lnTo>
                  <a:pt x="127000" y="50800"/>
                </a:lnTo>
                <a:arcTo hR="76200" wR="127000" stAng="16200000" swAng="-5400000"/>
                <a:close/>
              </a:path>
            </a:pathLst>
          </a:custGeom>
          <a:solidFill>
            <a:srgbClr val="B3362C"/>
          </a:solidFill>
          <a:ln/>
        </p:spPr>
      </p:sp>
      <p:sp>
        <p:nvSpPr>
          <p:cNvPr id="25" name="Text 23"/>
          <p:cNvSpPr/>
          <p:nvPr/>
        </p:nvSpPr>
        <p:spPr>
          <a:xfrm>
            <a:off x="8221107" y="2501900"/>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3362C"/>
                </a:solidFill>
                <a:latin typeface="Domine" pitchFamily="18" charset="0"/>
                <a:ea typeface="Domine" pitchFamily="18" charset="-122"/>
                <a:cs typeface="Domine" pitchFamily="18" charset="-120"/>
              </a:rPr>
              <a:t>♥</a:t>
            </a:r>
            <a:r>
              <a:rPr lang="en-US" sz="1800" b="1" dirty="0">
                <a:solidFill>
                  <a:srgbClr val="1A2620"/>
                </a:solidFill>
                <a:latin typeface="Domine" pitchFamily="18" charset="0"/>
                <a:ea typeface="Domine" pitchFamily="18" charset="-122"/>
                <a:cs typeface="Domine" pitchFamily="18" charset="-120"/>
              </a:rPr>
              <a:t> Apostas</a:t>
            </a:r>
            <a:endParaRPr lang="en-US" sz="1800" dirty="0"/>
          </a:p>
        </p:txBody>
      </p:sp>
      <p:sp>
        <p:nvSpPr>
          <p:cNvPr id="26" name="Text 24"/>
          <p:cNvSpPr/>
          <p:nvPr/>
        </p:nvSpPr>
        <p:spPr>
          <a:xfrm>
            <a:off x="8221107" y="2928620"/>
            <a:ext cx="3017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Trucar</a:t>
            </a:r>
            <a:endParaRPr lang="en-US" sz="1500" dirty="0"/>
          </a:p>
        </p:txBody>
      </p:sp>
      <p:sp>
        <p:nvSpPr>
          <p:cNvPr id="27" name="Text 25"/>
          <p:cNvSpPr/>
          <p:nvPr/>
        </p:nvSpPr>
        <p:spPr>
          <a:xfrm>
            <a:off x="8221107" y="3169920"/>
            <a:ext cx="3017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pede truco ou aumenta: 3 › 6 › 9 › 12</a:t>
            </a:r>
            <a:endParaRPr lang="en-US" sz="1300" dirty="0"/>
          </a:p>
        </p:txBody>
      </p:sp>
      <p:sp>
        <p:nvSpPr>
          <p:cNvPr id="28" name="Text 26"/>
          <p:cNvSpPr/>
          <p:nvPr/>
        </p:nvSpPr>
        <p:spPr>
          <a:xfrm>
            <a:off x="8221107" y="3507105"/>
            <a:ext cx="3017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Aceitar</a:t>
            </a:r>
            <a:endParaRPr lang="en-US" sz="1500" dirty="0"/>
          </a:p>
        </p:txBody>
      </p:sp>
      <p:sp>
        <p:nvSpPr>
          <p:cNvPr id="29" name="Text 27"/>
          <p:cNvSpPr/>
          <p:nvPr/>
        </p:nvSpPr>
        <p:spPr>
          <a:xfrm>
            <a:off x="8221107" y="3748405"/>
            <a:ext cx="3017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topa a aposta dos adversários</a:t>
            </a:r>
            <a:endParaRPr lang="en-US" sz="1300" dirty="0"/>
          </a:p>
        </p:txBody>
      </p:sp>
      <p:sp>
        <p:nvSpPr>
          <p:cNvPr id="30" name="Text 28"/>
          <p:cNvSpPr/>
          <p:nvPr/>
        </p:nvSpPr>
        <p:spPr>
          <a:xfrm>
            <a:off x="8221107" y="4085590"/>
            <a:ext cx="30173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620"/>
                </a:solidFill>
                <a:latin typeface="Nunito Sans" pitchFamily="34" charset="0"/>
                <a:ea typeface="Nunito Sans" pitchFamily="34" charset="-122"/>
                <a:cs typeface="Nunito Sans" pitchFamily="34" charset="-120"/>
              </a:rPr>
              <a:t>Correr</a:t>
            </a:r>
            <a:endParaRPr lang="en-US" sz="1500" dirty="0"/>
          </a:p>
        </p:txBody>
      </p:sp>
      <p:sp>
        <p:nvSpPr>
          <p:cNvPr id="31" name="Text 29"/>
          <p:cNvSpPr/>
          <p:nvPr/>
        </p:nvSpPr>
        <p:spPr>
          <a:xfrm>
            <a:off x="8221107" y="4326890"/>
            <a:ext cx="301737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E5A52"/>
                </a:solidFill>
                <a:latin typeface="Nunito Sans" pitchFamily="34" charset="0"/>
                <a:ea typeface="Nunito Sans" pitchFamily="34" charset="-122"/>
                <a:cs typeface="Nunito Sans" pitchFamily="34" charset="-120"/>
              </a:rPr>
              <a:t>desiste e entrega a mão</a:t>
            </a:r>
            <a:endParaRPr lang="en-US" sz="1300" dirty="0"/>
          </a:p>
        </p:txBody>
      </p:sp>
      <p:sp>
        <p:nvSpPr>
          <p:cNvPr id="32" name="Text 30"/>
          <p:cNvSpPr/>
          <p:nvPr/>
        </p:nvSpPr>
        <p:spPr>
          <a:xfrm>
            <a:off x="812800" y="556006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Se o parceiro já vence a mesa, “Deixar fazer” poupa cartas. Ações impossíveis ficam bloqueadas.</a:t>
            </a:r>
            <a:endParaRPr lang="en-US" sz="1200" dirty="0"/>
          </a:p>
          <a:p>
            <a:pPr algn="l" indent="0" marL="0">
              <a:lnSpc>
                <a:spcPts val="1680"/>
              </a:lnSpc>
              <a:buNone/>
            </a:pPr>
            <a:r>
              <a:rPr lang="en-US" sz="1200" dirty="0">
                <a:solidFill>
                  <a:srgbClr val="4E5A52"/>
                </a:solidFill>
                <a:latin typeface="Nunito Sans" pitchFamily="34" charset="0"/>
                <a:ea typeface="Nunito Sans" pitchFamily="34" charset="-122"/>
                <a:cs typeface="Nunito Sans" pitchFamily="34" charset="-120"/>
              </a:rPr>
              <a:t>Mão de 11: só Aceitar (jogar) ou Correr. No 11 a 11, a mão de ferro é às cegas: o agente não decide.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654"/>
                </a:solidFill>
                <a:latin typeface="Nunito Sans" pitchFamily="34" charset="0"/>
                <a:ea typeface="Nunito Sans" pitchFamily="34" charset="-122"/>
                <a:cs typeface="Nunito Sans" pitchFamily="34" charset="-120"/>
              </a:rPr>
              <a:t>SINAL DE APRENDIZADO</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EFE2"/>
                </a:solidFill>
                <a:latin typeface="Domine" pitchFamily="18" charset="0"/>
                <a:ea typeface="Domine" pitchFamily="18" charset="-122"/>
                <a:cs typeface="Domine" pitchFamily="18" charset="-120"/>
              </a:rPr>
              <a:t>Recompensas</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3C6"/>
                </a:solidFill>
                <a:latin typeface="Nunito Sans" pitchFamily="34" charset="0"/>
                <a:ea typeface="Nunito Sans" pitchFamily="34" charset="-122"/>
                <a:cs typeface="Nunito Sans" pitchFamily="34" charset="-120"/>
              </a:rPr>
              <a:t>Ao fim de cada mão, o agente recebe o resultado da dupla:</a:t>
            </a:r>
            <a:endParaRPr lang="en-US" sz="1500" dirty="0"/>
          </a:p>
        </p:txBody>
      </p:sp>
      <p:sp>
        <p:nvSpPr>
          <p:cNvPr id="5" name="Text 3"/>
          <p:cNvSpPr/>
          <p:nvPr/>
        </p:nvSpPr>
        <p:spPr>
          <a:xfrm>
            <a:off x="812800" y="21209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EFE2"/>
                </a:solidFill>
                <a:latin typeface="Domine" pitchFamily="18" charset="0"/>
                <a:ea typeface="Domine" pitchFamily="18" charset="-122"/>
                <a:cs typeface="Domine" pitchFamily="18" charset="-120"/>
              </a:rPr>
              <a:t>tentos ganhos </a:t>
            </a:r>
            <a:r>
              <a:rPr lang="en-US" sz="3600" b="1" dirty="0">
                <a:solidFill>
                  <a:srgbClr val="E0B654"/>
                </a:solidFill>
                <a:latin typeface="Domine" pitchFamily="18" charset="0"/>
                <a:ea typeface="Domine" pitchFamily="18" charset="-122"/>
                <a:cs typeface="Domine" pitchFamily="18" charset="-120"/>
              </a:rPr>
              <a:t>−</a:t>
            </a:r>
            <a:r>
              <a:rPr lang="en-US" sz="3600" b="1" dirty="0">
                <a:solidFill>
                  <a:srgbClr val="F5EFE2"/>
                </a:solidFill>
                <a:latin typeface="Domine" pitchFamily="18" charset="0"/>
                <a:ea typeface="Domine" pitchFamily="18" charset="-122"/>
                <a:cs typeface="Domine" pitchFamily="18" charset="-120"/>
              </a:rPr>
              <a:t> tentos perdidos</a:t>
            </a:r>
            <a:endParaRPr lang="en-US" sz="3600" dirty="0"/>
          </a:p>
        </p:txBody>
      </p:sp>
      <p:sp>
        <p:nvSpPr>
          <p:cNvPr id="6" name="Shape 4"/>
          <p:cNvSpPr/>
          <p:nvPr/>
        </p:nvSpPr>
        <p:spPr>
          <a:xfrm>
            <a:off x="815975" y="2880995"/>
            <a:ext cx="3380264" cy="2566035"/>
          </a:xfrm>
          <a:prstGeom prst="roundRect">
            <a:avLst>
              <a:gd name="adj" fmla="val 4826"/>
            </a:avLst>
          </a:prstGeom>
          <a:solidFill>
            <a:srgbClr val="163828"/>
          </a:solidFill>
          <a:ln w="6350">
            <a:solidFill>
              <a:srgbClr val="2F6650"/>
            </a:solidFill>
            <a:prstDash val="solid"/>
          </a:ln>
        </p:spPr>
      </p:sp>
      <p:sp>
        <p:nvSpPr>
          <p:cNvPr id="7" name="Text 5"/>
          <p:cNvSpPr/>
          <p:nvPr/>
        </p:nvSpPr>
        <p:spPr>
          <a:xfrm>
            <a:off x="1046480" y="3111500"/>
            <a:ext cx="300683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0B654"/>
                </a:solidFill>
                <a:latin typeface="Domine" pitchFamily="18" charset="0"/>
                <a:ea typeface="Domine" pitchFamily="18" charset="-122"/>
                <a:cs typeface="Domine" pitchFamily="18" charset="-120"/>
              </a:rPr>
              <a:t>±N</a:t>
            </a:r>
            <a:endParaRPr lang="en-US" sz="3200" dirty="0"/>
          </a:p>
        </p:txBody>
      </p:sp>
      <p:sp>
        <p:nvSpPr>
          <p:cNvPr id="8" name="Text 6"/>
          <p:cNvSpPr/>
          <p:nvPr/>
        </p:nvSpPr>
        <p:spPr>
          <a:xfrm>
            <a:off x="1046480" y="3634741"/>
            <a:ext cx="30068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EFE2"/>
                </a:solidFill>
                <a:latin typeface="Nunito Sans" pitchFamily="34" charset="0"/>
                <a:ea typeface="Nunito Sans" pitchFamily="34" charset="-122"/>
                <a:cs typeface="Nunito Sans" pitchFamily="34" charset="-120"/>
              </a:rPr>
              <a:t>Fim de cada mão</a:t>
            </a:r>
            <a:endParaRPr lang="en-US" sz="1600" dirty="0"/>
          </a:p>
        </p:txBody>
      </p:sp>
      <p:sp>
        <p:nvSpPr>
          <p:cNvPr id="9" name="Text 7"/>
          <p:cNvSpPr/>
          <p:nvPr/>
        </p:nvSpPr>
        <p:spPr>
          <a:xfrm>
            <a:off x="1046480" y="3954780"/>
            <a:ext cx="300683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C6"/>
                </a:solidFill>
                <a:latin typeface="Nunito Sans" pitchFamily="34" charset="0"/>
                <a:ea typeface="Nunito Sans" pitchFamily="34" charset="-122"/>
                <a:cs typeface="Nunito Sans" pitchFamily="34" charset="-120"/>
              </a:rPr>
              <a:t>+N se a dupla vence e −N se perde. A mão vale 1, ou 3, 6, 9 e 12 com truco. A mão de 11 vale 3.</a:t>
            </a:r>
            <a:endParaRPr lang="en-US" sz="1300" dirty="0"/>
          </a:p>
        </p:txBody>
      </p:sp>
      <p:sp>
        <p:nvSpPr>
          <p:cNvPr id="10" name="Shape 8"/>
          <p:cNvSpPr/>
          <p:nvPr/>
        </p:nvSpPr>
        <p:spPr>
          <a:xfrm>
            <a:off x="4405789" y="2880995"/>
            <a:ext cx="3380343" cy="2566035"/>
          </a:xfrm>
          <a:prstGeom prst="roundRect">
            <a:avLst>
              <a:gd name="adj" fmla="val 4826"/>
            </a:avLst>
          </a:prstGeom>
          <a:solidFill>
            <a:srgbClr val="163828"/>
          </a:solidFill>
          <a:ln w="6350">
            <a:solidFill>
              <a:srgbClr val="2F6650"/>
            </a:solidFill>
            <a:prstDash val="solid"/>
          </a:ln>
        </p:spPr>
      </p:sp>
      <p:sp>
        <p:nvSpPr>
          <p:cNvPr id="11" name="Text 9"/>
          <p:cNvSpPr/>
          <p:nvPr/>
        </p:nvSpPr>
        <p:spPr>
          <a:xfrm>
            <a:off x="4636294" y="3111500"/>
            <a:ext cx="300691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0B654"/>
                </a:solidFill>
                <a:latin typeface="Domine" pitchFamily="18" charset="0"/>
                <a:ea typeface="Domine" pitchFamily="18" charset="-122"/>
                <a:cs typeface="Domine" pitchFamily="18" charset="-120"/>
              </a:rPr>
              <a:t>−1 a −9</a:t>
            </a:r>
            <a:endParaRPr lang="en-US" sz="3200" dirty="0"/>
          </a:p>
        </p:txBody>
      </p:sp>
      <p:sp>
        <p:nvSpPr>
          <p:cNvPr id="12" name="Text 10"/>
          <p:cNvSpPr/>
          <p:nvPr/>
        </p:nvSpPr>
        <p:spPr>
          <a:xfrm>
            <a:off x="4636294" y="3634741"/>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EFE2"/>
                </a:solidFill>
                <a:latin typeface="Nunito Sans" pitchFamily="34" charset="0"/>
                <a:ea typeface="Nunito Sans" pitchFamily="34" charset="-122"/>
                <a:cs typeface="Nunito Sans" pitchFamily="34" charset="-120"/>
              </a:rPr>
              <a:t>Correr</a:t>
            </a:r>
            <a:endParaRPr lang="en-US" sz="1600" dirty="0"/>
          </a:p>
        </p:txBody>
      </p:sp>
      <p:sp>
        <p:nvSpPr>
          <p:cNvPr id="13" name="Text 11"/>
          <p:cNvSpPr/>
          <p:nvPr/>
        </p:nvSpPr>
        <p:spPr>
          <a:xfrm>
            <a:off x="4636294" y="3967480"/>
            <a:ext cx="1627727"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6"/>
                </a:solidFill>
                <a:latin typeface="Nunito Sans" pitchFamily="34" charset="0"/>
                <a:ea typeface="Nunito Sans" pitchFamily="34" charset="-122"/>
                <a:cs typeface="Nunito Sans" pitchFamily="34" charset="-120"/>
              </a:rPr>
              <a:t>Correr do truco (3)</a:t>
            </a:r>
            <a:endParaRPr lang="en-US" sz="1300" dirty="0"/>
          </a:p>
        </p:txBody>
      </p:sp>
      <p:sp>
        <p:nvSpPr>
          <p:cNvPr id="14" name="Text 12"/>
          <p:cNvSpPr/>
          <p:nvPr/>
        </p:nvSpPr>
        <p:spPr>
          <a:xfrm>
            <a:off x="7306707" y="3967480"/>
            <a:ext cx="248920" cy="248285"/>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F5EFE2"/>
                </a:solidFill>
                <a:latin typeface="Nunito Sans" pitchFamily="34" charset="0"/>
                <a:ea typeface="Nunito Sans" pitchFamily="34" charset="-122"/>
                <a:cs typeface="Nunito Sans" pitchFamily="34" charset="-120"/>
              </a:rPr>
              <a:t>−1</a:t>
            </a:r>
            <a:endParaRPr lang="en-US" sz="1300" dirty="0"/>
          </a:p>
        </p:txBody>
      </p:sp>
      <p:sp>
        <p:nvSpPr>
          <p:cNvPr id="15" name="Shape 13"/>
          <p:cNvSpPr/>
          <p:nvPr/>
        </p:nvSpPr>
        <p:spPr>
          <a:xfrm>
            <a:off x="4636294" y="4206241"/>
            <a:ext cx="2919333" cy="0"/>
          </a:xfrm>
          <a:prstGeom prst="line">
            <a:avLst/>
          </a:prstGeom>
          <a:noFill/>
          <a:ln w="6350">
            <a:solidFill>
              <a:srgbClr val="2F6650"/>
            </a:solidFill>
            <a:prstDash val="solid"/>
          </a:ln>
        </p:spPr>
      </p:sp>
      <p:sp>
        <p:nvSpPr>
          <p:cNvPr id="16" name="Text 14"/>
          <p:cNvSpPr/>
          <p:nvPr/>
        </p:nvSpPr>
        <p:spPr>
          <a:xfrm>
            <a:off x="4636294" y="4220845"/>
            <a:ext cx="999839"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6"/>
                </a:solidFill>
                <a:latin typeface="Nunito Sans" pitchFamily="34" charset="0"/>
                <a:ea typeface="Nunito Sans" pitchFamily="34" charset="-122"/>
                <a:cs typeface="Nunito Sans" pitchFamily="34" charset="-120"/>
              </a:rPr>
              <a:t>Correr do 6</a:t>
            </a:r>
            <a:endParaRPr lang="en-US" sz="1300" dirty="0"/>
          </a:p>
        </p:txBody>
      </p:sp>
      <p:sp>
        <p:nvSpPr>
          <p:cNvPr id="17" name="Text 15"/>
          <p:cNvSpPr/>
          <p:nvPr/>
        </p:nvSpPr>
        <p:spPr>
          <a:xfrm>
            <a:off x="7306707" y="4220845"/>
            <a:ext cx="248920" cy="248285"/>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F5EFE2"/>
                </a:solidFill>
                <a:latin typeface="Nunito Sans" pitchFamily="34" charset="0"/>
                <a:ea typeface="Nunito Sans" pitchFamily="34" charset="-122"/>
                <a:cs typeface="Nunito Sans" pitchFamily="34" charset="-120"/>
              </a:rPr>
              <a:t>−3</a:t>
            </a:r>
            <a:endParaRPr lang="en-US" sz="1300" dirty="0"/>
          </a:p>
        </p:txBody>
      </p:sp>
      <p:sp>
        <p:nvSpPr>
          <p:cNvPr id="18" name="Shape 16"/>
          <p:cNvSpPr/>
          <p:nvPr/>
        </p:nvSpPr>
        <p:spPr>
          <a:xfrm>
            <a:off x="4636294" y="4459605"/>
            <a:ext cx="2919333" cy="0"/>
          </a:xfrm>
          <a:prstGeom prst="line">
            <a:avLst/>
          </a:prstGeom>
          <a:noFill/>
          <a:ln w="6350">
            <a:solidFill>
              <a:srgbClr val="2F6650"/>
            </a:solidFill>
            <a:prstDash val="solid"/>
          </a:ln>
        </p:spPr>
      </p:sp>
      <p:sp>
        <p:nvSpPr>
          <p:cNvPr id="19" name="Text 17"/>
          <p:cNvSpPr/>
          <p:nvPr/>
        </p:nvSpPr>
        <p:spPr>
          <a:xfrm>
            <a:off x="4636294" y="4474211"/>
            <a:ext cx="999839"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6"/>
                </a:solidFill>
                <a:latin typeface="Nunito Sans" pitchFamily="34" charset="0"/>
                <a:ea typeface="Nunito Sans" pitchFamily="34" charset="-122"/>
                <a:cs typeface="Nunito Sans" pitchFamily="34" charset="-120"/>
              </a:rPr>
              <a:t>Correr do 9</a:t>
            </a:r>
            <a:endParaRPr lang="en-US" sz="1300" dirty="0"/>
          </a:p>
        </p:txBody>
      </p:sp>
      <p:sp>
        <p:nvSpPr>
          <p:cNvPr id="20" name="Text 18"/>
          <p:cNvSpPr/>
          <p:nvPr/>
        </p:nvSpPr>
        <p:spPr>
          <a:xfrm>
            <a:off x="7306707" y="4474211"/>
            <a:ext cx="248920" cy="248285"/>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F5EFE2"/>
                </a:solidFill>
                <a:latin typeface="Nunito Sans" pitchFamily="34" charset="0"/>
                <a:ea typeface="Nunito Sans" pitchFamily="34" charset="-122"/>
                <a:cs typeface="Nunito Sans" pitchFamily="34" charset="-120"/>
              </a:rPr>
              <a:t>−6</a:t>
            </a:r>
            <a:endParaRPr lang="en-US" sz="1300" dirty="0"/>
          </a:p>
        </p:txBody>
      </p:sp>
      <p:sp>
        <p:nvSpPr>
          <p:cNvPr id="21" name="Shape 19"/>
          <p:cNvSpPr/>
          <p:nvPr/>
        </p:nvSpPr>
        <p:spPr>
          <a:xfrm>
            <a:off x="4636294" y="4712970"/>
            <a:ext cx="2919333" cy="0"/>
          </a:xfrm>
          <a:prstGeom prst="line">
            <a:avLst/>
          </a:prstGeom>
          <a:noFill/>
          <a:ln w="6350">
            <a:solidFill>
              <a:srgbClr val="2F6650"/>
            </a:solidFill>
            <a:prstDash val="solid"/>
          </a:ln>
        </p:spPr>
      </p:sp>
      <p:sp>
        <p:nvSpPr>
          <p:cNvPr id="22" name="Text 20"/>
          <p:cNvSpPr/>
          <p:nvPr/>
        </p:nvSpPr>
        <p:spPr>
          <a:xfrm>
            <a:off x="4636294" y="4727575"/>
            <a:ext cx="1118711"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6"/>
                </a:solidFill>
                <a:latin typeface="Nunito Sans" pitchFamily="34" charset="0"/>
                <a:ea typeface="Nunito Sans" pitchFamily="34" charset="-122"/>
                <a:cs typeface="Nunito Sans" pitchFamily="34" charset="-120"/>
              </a:rPr>
              <a:t>Correr do 12</a:t>
            </a:r>
            <a:endParaRPr lang="en-US" sz="1300" dirty="0"/>
          </a:p>
        </p:txBody>
      </p:sp>
      <p:sp>
        <p:nvSpPr>
          <p:cNvPr id="23" name="Text 21"/>
          <p:cNvSpPr/>
          <p:nvPr/>
        </p:nvSpPr>
        <p:spPr>
          <a:xfrm>
            <a:off x="7306707" y="4727575"/>
            <a:ext cx="248920" cy="248285"/>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F5EFE2"/>
                </a:solidFill>
                <a:latin typeface="Nunito Sans" pitchFamily="34" charset="0"/>
                <a:ea typeface="Nunito Sans" pitchFamily="34" charset="-122"/>
                <a:cs typeface="Nunito Sans" pitchFamily="34" charset="-120"/>
              </a:rPr>
              <a:t>−9</a:t>
            </a:r>
            <a:endParaRPr lang="en-US" sz="1300" dirty="0"/>
          </a:p>
        </p:txBody>
      </p:sp>
      <p:sp>
        <p:nvSpPr>
          <p:cNvPr id="24" name="Shape 22"/>
          <p:cNvSpPr/>
          <p:nvPr/>
        </p:nvSpPr>
        <p:spPr>
          <a:xfrm>
            <a:off x="4636294" y="4966336"/>
            <a:ext cx="2919333" cy="0"/>
          </a:xfrm>
          <a:prstGeom prst="line">
            <a:avLst/>
          </a:prstGeom>
          <a:noFill/>
          <a:ln w="6350">
            <a:solidFill>
              <a:srgbClr val="2F6650"/>
            </a:solidFill>
            <a:prstDash val="solid"/>
          </a:ln>
        </p:spPr>
      </p:sp>
      <p:sp>
        <p:nvSpPr>
          <p:cNvPr id="25" name="Text 23"/>
          <p:cNvSpPr/>
          <p:nvPr/>
        </p:nvSpPr>
        <p:spPr>
          <a:xfrm>
            <a:off x="4636294" y="4980941"/>
            <a:ext cx="181813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3C6"/>
                </a:solidFill>
                <a:latin typeface="Nunito Sans" pitchFamily="34" charset="0"/>
                <a:ea typeface="Nunito Sans" pitchFamily="34" charset="-122"/>
                <a:cs typeface="Nunito Sans" pitchFamily="34" charset="-120"/>
              </a:rPr>
              <a:t>Correr na mão de 11</a:t>
            </a:r>
            <a:endParaRPr lang="en-US" sz="1300" dirty="0"/>
          </a:p>
        </p:txBody>
      </p:sp>
      <p:sp>
        <p:nvSpPr>
          <p:cNvPr id="26" name="Text 24"/>
          <p:cNvSpPr/>
          <p:nvPr/>
        </p:nvSpPr>
        <p:spPr>
          <a:xfrm>
            <a:off x="7306707" y="4980941"/>
            <a:ext cx="248920" cy="248285"/>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F5EFE2"/>
                </a:solidFill>
                <a:latin typeface="Nunito Sans" pitchFamily="34" charset="0"/>
                <a:ea typeface="Nunito Sans" pitchFamily="34" charset="-122"/>
                <a:cs typeface="Nunito Sans" pitchFamily="34" charset="-120"/>
              </a:rPr>
              <a:t>−1</a:t>
            </a:r>
            <a:endParaRPr lang="en-US" sz="1300" dirty="0"/>
          </a:p>
        </p:txBody>
      </p:sp>
      <p:sp>
        <p:nvSpPr>
          <p:cNvPr id="27" name="Shape 25"/>
          <p:cNvSpPr/>
          <p:nvPr/>
        </p:nvSpPr>
        <p:spPr>
          <a:xfrm>
            <a:off x="7995682" y="2880995"/>
            <a:ext cx="3380343" cy="2566035"/>
          </a:xfrm>
          <a:prstGeom prst="roundRect">
            <a:avLst>
              <a:gd name="adj" fmla="val 4826"/>
            </a:avLst>
          </a:prstGeom>
          <a:solidFill>
            <a:srgbClr val="163828"/>
          </a:solidFill>
          <a:ln w="6350">
            <a:solidFill>
              <a:srgbClr val="2F6650"/>
            </a:solidFill>
            <a:prstDash val="solid"/>
          </a:ln>
        </p:spPr>
      </p:sp>
      <p:sp>
        <p:nvSpPr>
          <p:cNvPr id="28" name="Text 26"/>
          <p:cNvSpPr/>
          <p:nvPr/>
        </p:nvSpPr>
        <p:spPr>
          <a:xfrm>
            <a:off x="8226187" y="3111500"/>
            <a:ext cx="300691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0B654"/>
                </a:solidFill>
                <a:latin typeface="Domine" pitchFamily="18" charset="0"/>
                <a:ea typeface="Domine" pitchFamily="18" charset="-122"/>
                <a:cs typeface="Domine" pitchFamily="18" charset="-120"/>
              </a:rPr>
              <a:t>12</a:t>
            </a:r>
            <a:endParaRPr lang="en-US" sz="3200" dirty="0"/>
          </a:p>
        </p:txBody>
      </p:sp>
      <p:sp>
        <p:nvSpPr>
          <p:cNvPr id="29" name="Text 27"/>
          <p:cNvSpPr/>
          <p:nvPr/>
        </p:nvSpPr>
        <p:spPr>
          <a:xfrm>
            <a:off x="8226187" y="3634741"/>
            <a:ext cx="300691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EFE2"/>
                </a:solidFill>
                <a:latin typeface="Nunito Sans" pitchFamily="34" charset="0"/>
                <a:ea typeface="Nunito Sans" pitchFamily="34" charset="-122"/>
                <a:cs typeface="Nunito Sans" pitchFamily="34" charset="-120"/>
              </a:rPr>
              <a:t>Fim da partida</a:t>
            </a:r>
            <a:endParaRPr lang="en-US" sz="1600" dirty="0"/>
          </a:p>
        </p:txBody>
      </p:sp>
      <p:sp>
        <p:nvSpPr>
          <p:cNvPr id="30" name="Text 28"/>
          <p:cNvSpPr/>
          <p:nvPr/>
        </p:nvSpPr>
        <p:spPr>
          <a:xfrm>
            <a:off x="8226187" y="3954780"/>
            <a:ext cx="300691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C6"/>
                </a:solidFill>
                <a:latin typeface="Nunito Sans" pitchFamily="34" charset="0"/>
                <a:ea typeface="Nunito Sans" pitchFamily="34" charset="-122"/>
                <a:cs typeface="Nunito Sans" pitchFamily="34" charset="-120"/>
              </a:rPr>
              <a:t>A partida vai a 12 tentos. No 11 a 11, a mão de ferro decide o jogo. Opcional: bônus por vencer.</a:t>
            </a:r>
            <a:endParaRPr lang="en-US" sz="1300" dirty="0"/>
          </a:p>
        </p:txBody>
      </p:sp>
      <p:sp>
        <p:nvSpPr>
          <p:cNvPr id="31" name="Shape 29"/>
          <p:cNvSpPr/>
          <p:nvPr/>
        </p:nvSpPr>
        <p:spPr>
          <a:xfrm>
            <a:off x="825500" y="5704205"/>
            <a:ext cx="0" cy="314960"/>
          </a:xfrm>
          <a:prstGeom prst="line">
            <a:avLst/>
          </a:prstGeom>
          <a:noFill/>
          <a:ln w="25400">
            <a:solidFill>
              <a:srgbClr val="E0B654"/>
            </a:solidFill>
            <a:prstDash val="solid"/>
          </a:ln>
        </p:spPr>
      </p:sp>
      <p:sp>
        <p:nvSpPr>
          <p:cNvPr id="32" name="Text 30"/>
          <p:cNvSpPr/>
          <p:nvPr/>
        </p:nvSpPr>
        <p:spPr>
          <a:xfrm>
            <a:off x="990600" y="5729605"/>
            <a:ext cx="10700258" cy="28956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F5EFE2"/>
                </a:solidFill>
                <a:latin typeface="Nunito Sans" pitchFamily="34" charset="0"/>
                <a:ea typeface="Nunito Sans" pitchFamily="34" charset="-122"/>
                <a:cs typeface="Nunito Sans" pitchFamily="34" charset="-120"/>
              </a:rPr>
              <a:t>O agente aprende quando trucar, poupar cartas e confiar no parceiro.</a:t>
            </a:r>
            <a:endParaRPr lang="en-US" sz="1600" dirty="0"/>
          </a:p>
        </p:txBody>
      </p:sp>
    </p:spTree>
  </p:cSld>
  <p:clrMapOvr>
    <a:masterClrMapping/>
  </p:clrMapOvr>
</p:sld>
</file>

<file path=ppt/theme/theme1.xml><?xml version="1.0" encoding="utf-8"?>
<a:theme xmlns:a="http://schemas.openxmlformats.org/drawingml/2006/main" name="Agente de Truco Mineiro">
  <a:themeElements>
    <a:clrScheme name="Agente de Truco Mineiro">
      <a:dk1>
        <a:srgbClr val="4E5A52"/>
      </a:dk1>
      <a:lt1>
        <a:srgbClr val="F5EFE2"/>
      </a:lt1>
      <a:dk2>
        <a:srgbClr val="787F76"/>
      </a:dk2>
      <a:lt2>
        <a:srgbClr val="E4E0D4"/>
      </a:lt2>
      <a:accent1>
        <a:srgbClr val="B3362C"/>
      </a:accent1>
      <a:accent2>
        <a:srgbClr val="E0B654"/>
      </a:accent2>
      <a:accent3>
        <a:srgbClr val="1E4A38"/>
      </a:accent3>
      <a:accent4>
        <a:srgbClr val="2A5E48"/>
      </a:accent4>
      <a:accent5>
        <a:srgbClr val="1A2620"/>
      </a:accent5>
      <a:accent6>
        <a:srgbClr val="BFD3C6"/>
      </a:accent6>
      <a:hlink>
        <a:srgbClr val="0563C1"/>
      </a:hlink>
      <a:folHlink>
        <a:srgbClr val="954F72"/>
      </a:folHlink>
    </a:clrScheme>
    <a:fontScheme name="Agente de Truco Mineiro">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de Truco Mineiro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2026-10-28T23:12:46Z</dcterms:created>
  <dcterms:modified xsi:type="dcterms:W3CDTF">2026-10-28T23:12:46Z</dcterms:modified>
</cp:coreProperties>
</file>